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 Id="rId7"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96a5cea0f913a244.jpg"/>
          <p:cNvPicPr>
            <a:picLocks noChangeAspect="1"/>
          </p:cNvPicPr>
          <p:nvPr/>
        </p:nvPicPr>
        <p:blipFill>
          <a:blip r:embed="rId2"/>
          <a:stretch>
            <a:fillRect/>
          </a:stretch>
        </p:blipFill>
        <p:spPr>
          <a:xfrm>
            <a:off x="0" y="0"/>
            <a:ext cx="7560000" cy="10692000"/>
          </a:xfrm>
          <a:prstGeom prst="rect">
            <a:avLst/>
          </a:prstGeom>
        </p:spPr>
      </p:pic>
      <p:sp>
        <p:nvSpPr>
          <p:cNvPr id="3" name="Rectangle 2"/>
          <p:cNvSpPr/>
          <p:nvPr/>
        </p:nvSpPr>
        <p:spPr>
          <a:xfrm>
            <a:off x="720000" y="576000"/>
            <a:ext cx="6120000" cy="936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4000" y="612000"/>
            <a:ext cx="5400000" cy="864000"/>
          </a:xfrm>
          <a:prstGeom prst="rect">
            <a:avLst/>
          </a:prstGeom>
          <a:noFill/>
        </p:spPr>
        <p:txBody>
          <a:bodyPr wrap="square" anchor="ctr">
            <a:spAutoFit/>
          </a:bodyPr>
          <a:lstStyle/>
          <a:p>
            <a:pPr algn="l">
              <a:lnSpc>
                <a:spcPct val="115000"/>
              </a:lnSpc>
              <a:spcAft>
                <a:spcPts val="500"/>
              </a:spcAft>
            </a:pPr>
            <a:r>
              <a:rPr sz="3400" b="1" i="0">
                <a:solidFill>
                  <a:srgbClr val="FFFFFF"/>
                </a:solidFill>
                <a:latin typeface="Constantia"/>
              </a:rPr>
              <a:t>SibirPosten</a:t>
            </a:r>
          </a:p>
        </p:txBody>
      </p:sp>
      <p:sp>
        <p:nvSpPr>
          <p:cNvPr id="5" name="Rectangle 4"/>
          <p:cNvSpPr/>
          <p:nvPr/>
        </p:nvSpPr>
        <p:spPr>
          <a:xfrm>
            <a:off x="0" y="1872000"/>
            <a:ext cx="1800000" cy="2520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6000" y="2016000"/>
            <a:ext cx="1584000" cy="288000"/>
          </a:xfrm>
          <a:prstGeom prst="rect">
            <a:avLst/>
          </a:prstGeom>
          <a:noFill/>
        </p:spPr>
        <p:txBody>
          <a:bodyPr wrap="square" anchor="t">
            <a:spAutoFit/>
          </a:bodyPr>
          <a:lstStyle/>
          <a:p>
            <a:pPr algn="l">
              <a:lnSpc>
                <a:spcPct val="115000"/>
              </a:lnSpc>
              <a:spcAft>
                <a:spcPts val="500"/>
              </a:spcAft>
            </a:pPr>
            <a:r>
              <a:rPr sz="1100" b="1" i="0">
                <a:solidFill>
                  <a:srgbClr val="FFFFFF"/>
                </a:solidFill>
                <a:latin typeface="Arial"/>
              </a:rPr>
              <a:t>JUBILEUM 2026</a:t>
            </a:r>
          </a:p>
        </p:txBody>
      </p:sp>
      <p:sp>
        <p:nvSpPr>
          <p:cNvPr id="7" name="TextBox 6"/>
          <p:cNvSpPr txBox="1"/>
          <p:nvPr/>
        </p:nvSpPr>
        <p:spPr>
          <a:xfrm>
            <a:off x="144000" y="2304000"/>
            <a:ext cx="1656000" cy="720000"/>
          </a:xfrm>
          <a:prstGeom prst="rect">
            <a:avLst/>
          </a:prstGeom>
          <a:noFill/>
        </p:spPr>
        <p:txBody>
          <a:bodyPr wrap="square" anchor="t">
            <a:spAutoFit/>
          </a:bodyPr>
          <a:lstStyle/>
          <a:p>
            <a:pPr algn="l">
              <a:lnSpc>
                <a:spcPct val="115000"/>
              </a:lnSpc>
              <a:spcAft>
                <a:spcPts val="500"/>
              </a:spcAft>
            </a:pPr>
            <a:r>
              <a:rPr sz="4000" b="1" i="0">
                <a:solidFill>
                  <a:srgbClr val="FFFFFF"/>
                </a:solidFill>
                <a:latin typeface="Arial"/>
              </a:rPr>
              <a:t>#01</a:t>
            </a:r>
          </a:p>
        </p:txBody>
      </p:sp>
      <p:sp>
        <p:nvSpPr>
          <p:cNvPr id="8" name="TextBox 7"/>
          <p:cNvSpPr txBox="1"/>
          <p:nvPr/>
        </p:nvSpPr>
        <p:spPr>
          <a:xfrm>
            <a:off x="216000" y="3312000"/>
            <a:ext cx="1584000" cy="864000"/>
          </a:xfrm>
          <a:prstGeom prst="rect">
            <a:avLst/>
          </a:prstGeom>
          <a:noFill/>
        </p:spPr>
        <p:txBody>
          <a:bodyPr wrap="square" anchor="t">
            <a:spAutoFit/>
          </a:bodyPr>
          <a:lstStyle/>
          <a:p>
            <a:pPr algn="l">
              <a:lnSpc>
                <a:spcPct val="140000"/>
              </a:lnSpc>
              <a:spcAft>
                <a:spcPts val="500"/>
              </a:spcAft>
            </a:pPr>
            <a:r>
              <a:rPr sz="1100" b="1" i="0">
                <a:solidFill>
                  <a:srgbClr val="FFFFFF"/>
                </a:solidFill>
                <a:latin typeface="Arial"/>
              </a:rPr>
              <a:t>20 ÅR</a:t>
            </a:r>
          </a:p>
          <a:p>
            <a:pPr algn="l">
              <a:lnSpc>
                <a:spcPct val="140000"/>
              </a:lnSpc>
              <a:spcAft>
                <a:spcPts val="500"/>
              </a:spcAft>
            </a:pPr>
            <a:r>
              <a:rPr sz="1100" b="1" i="0">
                <a:solidFill>
                  <a:srgbClr val="FFFFFF"/>
                </a:solidFill>
                <a:latin typeface="Arial"/>
              </a:rPr>
              <a:t>TESTHJEM</a:t>
            </a:r>
          </a:p>
          <a:p>
            <a:pPr algn="l">
              <a:lnSpc>
                <a:spcPct val="140000"/>
              </a:lnSpc>
              <a:spcAft>
                <a:spcPts val="500"/>
              </a:spcAft>
            </a:pPr>
            <a:r>
              <a:rPr sz="1100" b="1" i="0">
                <a:solidFill>
                  <a:srgbClr val="FFFFFF"/>
                </a:solidFill>
                <a:latin typeface="Arial"/>
              </a:rPr>
              <a:t>PUCIFER</a:t>
            </a:r>
          </a:p>
        </p:txBody>
      </p:sp>
      <p:sp>
        <p:nvSpPr>
          <p:cNvPr id="9" name="Rectangle 8"/>
          <p:cNvSpPr/>
          <p:nvPr/>
        </p:nvSpPr>
        <p:spPr>
          <a:xfrm>
            <a:off x="3888000" y="9000000"/>
            <a:ext cx="3312000" cy="1080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32000" y="9108000"/>
            <a:ext cx="3024000" cy="432000"/>
          </a:xfrm>
          <a:prstGeom prst="rect">
            <a:avLst/>
          </a:prstGeom>
          <a:noFill/>
        </p:spPr>
        <p:txBody>
          <a:bodyPr wrap="square" anchor="t">
            <a:spAutoFit/>
          </a:bodyPr>
          <a:lstStyle/>
          <a:p>
            <a:pPr algn="l">
              <a:lnSpc>
                <a:spcPct val="115000"/>
              </a:lnSpc>
              <a:spcAft>
                <a:spcPts val="500"/>
              </a:spcAft>
            </a:pPr>
            <a:r>
              <a:rPr sz="1300" b="1" i="0">
                <a:solidFill>
                  <a:srgbClr val="FFFFFF"/>
                </a:solidFill>
                <a:latin typeface="Constantia"/>
              </a:rPr>
              <a:t>Sibirkattens Venner 20 år</a:t>
            </a:r>
          </a:p>
        </p:txBody>
      </p:sp>
      <p:sp>
        <p:nvSpPr>
          <p:cNvPr id="11" name="TextBox 10"/>
          <p:cNvSpPr txBox="1"/>
          <p:nvPr/>
        </p:nvSpPr>
        <p:spPr>
          <a:xfrm>
            <a:off x="4032000" y="9504000"/>
            <a:ext cx="3024000" cy="432000"/>
          </a:xfrm>
          <a:prstGeom prst="rect">
            <a:avLst/>
          </a:prstGeom>
          <a:noFill/>
        </p:spPr>
        <p:txBody>
          <a:bodyPr wrap="square" anchor="t">
            <a:spAutoFit/>
          </a:bodyPr>
          <a:lstStyle/>
          <a:p>
            <a:pPr algn="l">
              <a:lnSpc>
                <a:spcPct val="115000"/>
              </a:lnSpc>
              <a:spcAft>
                <a:spcPts val="500"/>
              </a:spcAft>
            </a:pPr>
            <a:r>
              <a:rPr sz="1000" b="0" i="1">
                <a:solidFill>
                  <a:srgbClr val="FFFFFF"/>
                </a:solidFill>
                <a:latin typeface="Constantia"/>
              </a:rPr>
              <a:t>Tjue år med katter, mennesker og lange linjer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864000"/>
            <a:ext cx="6120000" cy="216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936000"/>
            <a:ext cx="3600000" cy="288000"/>
          </a:xfrm>
          <a:prstGeom prst="rect">
            <a:avLst/>
          </a:prstGeom>
          <a:noFill/>
        </p:spPr>
        <p:txBody>
          <a:bodyPr wrap="square" anchor="t">
            <a:spAutoFit/>
          </a:bodyPr>
          <a:lstStyle/>
          <a:p>
            <a:pPr algn="l">
              <a:lnSpc>
                <a:spcPct val="115000"/>
              </a:lnSpc>
              <a:spcAft>
                <a:spcPts val="500"/>
              </a:spcAft>
            </a:pPr>
            <a:r>
              <a:rPr sz="1100" b="1" i="0">
                <a:solidFill>
                  <a:srgbClr val="6E6E6E"/>
                </a:solidFill>
                <a:latin typeface="Arial"/>
              </a:rPr>
              <a:t>INNHOLD</a:t>
            </a:r>
          </a:p>
        </p:txBody>
      </p:sp>
      <p:sp>
        <p:nvSpPr>
          <p:cNvPr id="4" name="TextBox 3"/>
          <p:cNvSpPr txBox="1"/>
          <p:nvPr/>
        </p:nvSpPr>
        <p:spPr>
          <a:xfrm>
            <a:off x="720000" y="1440000"/>
            <a:ext cx="6120000" cy="7200000"/>
          </a:xfrm>
          <a:prstGeom prst="rect">
            <a:avLst/>
          </a:prstGeom>
          <a:noFill/>
        </p:spPr>
        <p:txBody>
          <a:bodyPr wrap="square" anchor="t">
            <a:spAutoFit/>
          </a:bodyPr>
          <a:lstStyle/>
          <a:p>
            <a:pPr algn="l">
              <a:lnSpc>
                <a:spcPct val="200000"/>
              </a:lnSpc>
              <a:spcAft>
                <a:spcPts val="500"/>
              </a:spcAft>
            </a:pPr>
            <a:r>
              <a:rPr sz="1400" b="0" i="0">
                <a:solidFill>
                  <a:srgbClr val="111111"/>
                </a:solidFill>
                <a:latin typeface="Constantia"/>
              </a:rPr>
              <a:t>01   Leder – en hilsen fra styret</a:t>
            </a:r>
          </a:p>
          <a:p>
            <a:pPr algn="l">
              <a:lnSpc>
                <a:spcPct val="200000"/>
              </a:lnSpc>
              <a:spcAft>
                <a:spcPts val="500"/>
              </a:spcAft>
            </a:pPr>
            <a:r>
              <a:rPr sz="1400" b="0" i="0">
                <a:solidFill>
                  <a:srgbClr val="111111"/>
                </a:solidFill>
                <a:latin typeface="Constantia"/>
              </a:rPr>
              <a:t>02   Foreningens historie – tjue år med sibirkatt</a:t>
            </a:r>
          </a:p>
          <a:p>
            <a:pPr algn="l">
              <a:lnSpc>
                <a:spcPct val="200000"/>
              </a:lnSpc>
              <a:spcAft>
                <a:spcPts val="500"/>
              </a:spcAft>
            </a:pPr>
            <a:r>
              <a:rPr sz="1400" b="0" i="0">
                <a:solidFill>
                  <a:srgbClr val="111111"/>
                </a:solidFill>
                <a:latin typeface="Constantia"/>
              </a:rPr>
              <a:t>03   Sibirkatten – en naturlig rase med lange linjer</a:t>
            </a:r>
          </a:p>
          <a:p>
            <a:pPr algn="l">
              <a:lnSpc>
                <a:spcPct val="200000"/>
              </a:lnSpc>
              <a:spcAft>
                <a:spcPts val="500"/>
              </a:spcAft>
            </a:pPr>
            <a:r>
              <a:rPr sz="1400" b="0" i="0">
                <a:solidFill>
                  <a:srgbClr val="111111"/>
                </a:solidFill>
                <a:latin typeface="Constantia"/>
              </a:rPr>
              <a:t>04   Kattunge til voksen</a:t>
            </a:r>
          </a:p>
          <a:p>
            <a:pPr algn="l">
              <a:lnSpc>
                <a:spcPct val="200000"/>
              </a:lnSpc>
              <a:spcAft>
                <a:spcPts val="500"/>
              </a:spcAft>
            </a:pPr>
            <a:r>
              <a:rPr sz="1400" b="0" i="0">
                <a:solidFill>
                  <a:srgbClr val="111111"/>
                </a:solidFill>
                <a:latin typeface="Constantia"/>
              </a:rPr>
              <a:t>05   Barn og sibirkatt</a:t>
            </a:r>
          </a:p>
          <a:p>
            <a:pPr algn="l">
              <a:lnSpc>
                <a:spcPct val="200000"/>
              </a:lnSpc>
              <a:spcAft>
                <a:spcPts val="500"/>
              </a:spcAft>
            </a:pPr>
            <a:r>
              <a:rPr sz="1400" b="0" i="0">
                <a:solidFill>
                  <a:srgbClr val="111111"/>
                </a:solidFill>
                <a:latin typeface="Constantia"/>
              </a:rPr>
              <a:t>06   Pelsstell gjennom året</a:t>
            </a:r>
          </a:p>
          <a:p>
            <a:pPr algn="l">
              <a:lnSpc>
                <a:spcPct val="200000"/>
              </a:lnSpc>
              <a:spcAft>
                <a:spcPts val="500"/>
              </a:spcAft>
            </a:pPr>
            <a:r>
              <a:rPr sz="1400" b="0" i="0">
                <a:solidFill>
                  <a:srgbClr val="111111"/>
                </a:solidFill>
                <a:latin typeface="Constantia"/>
              </a:rPr>
              <a:t>07   Klikkertrening – mental trim for en smart katt</a:t>
            </a:r>
          </a:p>
          <a:p>
            <a:pPr algn="l">
              <a:lnSpc>
                <a:spcPct val="200000"/>
              </a:lnSpc>
              <a:spcAft>
                <a:spcPts val="500"/>
              </a:spcAft>
            </a:pPr>
            <a:r>
              <a:rPr sz="1400" b="0" i="0">
                <a:solidFill>
                  <a:srgbClr val="111111"/>
                </a:solidFill>
                <a:latin typeface="Constantia"/>
              </a:rPr>
              <a:t>08   Eventyrpusen Pucifer</a:t>
            </a:r>
          </a:p>
          <a:p>
            <a:pPr algn="l">
              <a:lnSpc>
                <a:spcPct val="200000"/>
              </a:lnSpc>
              <a:spcAft>
                <a:spcPts val="500"/>
              </a:spcAft>
            </a:pPr>
            <a:r>
              <a:rPr sz="1400" b="0" i="0">
                <a:solidFill>
                  <a:srgbClr val="111111"/>
                </a:solidFill>
                <a:latin typeface="Constantia"/>
              </a:rPr>
              <a:t>09   Testhjemformidlingen</a:t>
            </a:r>
          </a:p>
          <a:p>
            <a:pPr algn="l">
              <a:lnSpc>
                <a:spcPct val="200000"/>
              </a:lnSpc>
              <a:spcAft>
                <a:spcPts val="500"/>
              </a:spcAft>
            </a:pPr>
            <a:r>
              <a:rPr sz="1400" b="0" i="0">
                <a:solidFill>
                  <a:srgbClr val="111111"/>
                </a:solidFill>
                <a:latin typeface="Constantia"/>
              </a:rPr>
              <a:t>10   Å være testhjem – Beate</a:t>
            </a:r>
          </a:p>
          <a:p>
            <a:pPr algn="l">
              <a:lnSpc>
                <a:spcPct val="200000"/>
              </a:lnSpc>
              <a:spcAft>
                <a:spcPts val="500"/>
              </a:spcAft>
            </a:pPr>
            <a:r>
              <a:rPr sz="1400" b="0" i="0">
                <a:solidFill>
                  <a:srgbClr val="111111"/>
                </a:solidFill>
                <a:latin typeface="Constantia"/>
              </a:rPr>
              <a:t>11   Å være testhjem – Monica</a:t>
            </a:r>
          </a:p>
          <a:p>
            <a:pPr algn="l">
              <a:lnSpc>
                <a:spcPct val="200000"/>
              </a:lnSpc>
              <a:spcAft>
                <a:spcPts val="500"/>
              </a:spcAft>
            </a:pPr>
            <a:r>
              <a:rPr sz="1400" b="0" i="0">
                <a:solidFill>
                  <a:srgbClr val="111111"/>
                </a:solidFill>
                <a:latin typeface="Constantia"/>
              </a:rPr>
              <a:t>12   Rabatter og samarbeidspartnere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9720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9720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Leder</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Leder — en hilsen fra styret</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Tjue år med sibirkatt – en hilsen fra styret til alle medlemmer og venner av rasen.</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STYRET I SIBIRKATTENS VENNER   ·   UTKAST</a:t>
            </a:r>
          </a:p>
        </p:txBody>
      </p:sp>
      <p:sp>
        <p:nvSpPr>
          <p:cNvPr id="7" name="Rectangle 6"/>
          <p:cNvSpPr/>
          <p:nvPr/>
        </p:nvSpPr>
        <p:spPr>
          <a:xfrm>
            <a:off x="720000" y="3420000"/>
            <a:ext cx="6120000" cy="5400000"/>
          </a:xfrm>
          <a:prstGeom prst="rect">
            <a:avLst/>
          </a:prstGeom>
          <a:solidFill>
            <a:srgbClr val="F4F2EF"/>
          </a:solidFill>
          <a:ln w="63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5904000"/>
            <a:ext cx="6120000" cy="432000"/>
          </a:xfrm>
          <a:prstGeom prst="rect">
            <a:avLst/>
          </a:prstGeom>
          <a:noFill/>
        </p:spPr>
        <p:txBody>
          <a:bodyPr wrap="square" anchor="ctr">
            <a:spAutoFit/>
          </a:bodyPr>
          <a:lstStyle/>
          <a:p>
            <a:pPr algn="ctr">
              <a:lnSpc>
                <a:spcPct val="115000"/>
              </a:lnSpc>
              <a:spcAft>
                <a:spcPts val="500"/>
              </a:spcAft>
            </a:pPr>
            <a:r>
              <a:rPr sz="1000" b="0" i="0">
                <a:solidFill>
                  <a:srgbClr val="6E6E6E"/>
                </a:solidFill>
                <a:latin typeface="Arial"/>
              </a:rPr>
              <a:t>FOTO · 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Leder — en hilsen fra styret</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Kjære medlemmer og sibirkattevenner,</a:t>
            </a:r>
          </a:p>
          <a:p>
            <a:pPr algn="l">
              <a:lnSpc>
                <a:spcPct val="125000"/>
              </a:lnSpc>
              <a:spcAft>
                <a:spcPts val="500"/>
              </a:spcAft>
            </a:pPr>
            <a:r>
              <a:rPr sz="1200" b="0" i="0">
                <a:solidFill>
                  <a:srgbClr val="111111"/>
                </a:solidFill>
                <a:latin typeface="Constantia"/>
              </a:rPr>
              <a:t>Tjue år. Det er lenge for en forening som drives på frivillig innsats og kjærlighet til én katterase. I 2026 feirer Sibirkattens Venner 20 år, og denne jubileumsutgaven av Sibirposten er vår måte å markere det på – sammen med dere som har gjort det mulig.</a:t>
            </a:r>
          </a:p>
          <a:p>
            <a:pPr algn="l">
              <a:lnSpc>
                <a:spcPct val="125000"/>
              </a:lnSpc>
              <a:spcAft>
                <a:spcPts val="500"/>
              </a:spcAft>
            </a:pPr>
            <a:r>
              <a:rPr sz="1200" b="0" i="0">
                <a:solidFill>
                  <a:srgbClr val="111111"/>
                </a:solidFill>
                <a:latin typeface="Constantia"/>
              </a:rPr>
              <a:t>Da foreningen ble startet, var sibirkatten fortsatt en relativt ukjent rase i Norge. I dag er den en av de mest avholdte naturrasene i landet, kjent for sitt vennlige vesen, sin robuste helse og sin vakre, tredelte pels. Mye av æren for det tilhører oppdrettere, testhjem og medlemmer som har delt kunnskap, tatt vare på de gode linjene og ønsket nye kattefamilier velkommen.</a:t>
            </a:r>
          </a:p>
          <a:p>
            <a:pPr algn="l">
              <a:lnSpc>
                <a:spcPct val="125000"/>
              </a:lnSpc>
              <a:spcAft>
                <a:spcPts val="500"/>
              </a:spcAft>
            </a:pPr>
            <a:r>
              <a:rPr sz="1200" b="0" i="0">
                <a:solidFill>
                  <a:srgbClr val="111111"/>
                </a:solidFill>
                <a:latin typeface="Constantia"/>
              </a:rPr>
              <a:t>Foreningen vår hviler på tre ord: kjærlighet, kunnskap og engasjement. Kjærlighet til kattene og menneskene rundt dem. Kunnskap som deles åpent, slik at rasen forblir frisk og trygg. Og engasjement fra alle som stiller opp – på utstillinger, i testhjemformidlingen, i redaksjonen og i de mange små oppgavene som får en forening til å leve.</a:t>
            </a:r>
          </a:p>
          <a:p>
            <a:pPr algn="l">
              <a:lnSpc>
                <a:spcPct val="125000"/>
              </a:lnSpc>
              <a:spcAft>
                <a:spcPts val="500"/>
              </a:spcAft>
            </a:pPr>
            <a:r>
              <a:rPr sz="1200" b="0" i="0">
                <a:solidFill>
                  <a:srgbClr val="111111"/>
                </a:solidFill>
                <a:latin typeface="Constantia"/>
              </a:rPr>
              <a:t>I denne utgaven finner du både fag og hjerte: historien om rasen, råd om veien fra kattunge til voksen, portretter av katter og menneskene som er glad i dem, og en hilsen til alle våre gode samarbeidspartnere.</a:t>
            </a:r>
          </a:p>
          <a:p>
            <a:pPr algn="l">
              <a:lnSpc>
                <a:spcPct val="125000"/>
              </a:lnSpc>
              <a:spcAft>
                <a:spcPts val="500"/>
              </a:spcAft>
            </a:pPr>
            <a:r>
              <a:rPr sz="1200" b="0" i="0">
                <a:solidFill>
                  <a:srgbClr val="111111"/>
                </a:solidFill>
                <a:latin typeface="Constantia"/>
              </a:rPr>
              <a:t>Takk for tjue gode år. Vi gleder oss til de neste.</a:t>
            </a:r>
          </a:p>
          <a:p>
            <a:pPr algn="l">
              <a:lnSpc>
                <a:spcPct val="125000"/>
              </a:lnSpc>
              <a:spcAft>
                <a:spcPts val="500"/>
              </a:spcAft>
            </a:pPr>
            <a:r>
              <a:rPr sz="1200" b="0" i="0">
                <a:solidFill>
                  <a:srgbClr val="111111"/>
                </a:solidFill>
                <a:latin typeface="Constantia"/>
              </a:rPr>
              <a:t>Med vennlig hilsen</a:t>
            </a:r>
          </a:p>
          <a:p>
            <a:pPr algn="l">
              <a:lnSpc>
                <a:spcPct val="125000"/>
              </a:lnSpc>
              <a:spcAft>
                <a:spcPts val="500"/>
              </a:spcAft>
            </a:pPr>
            <a:r>
              <a:rPr sz="1200" b="0" i="0">
                <a:solidFill>
                  <a:srgbClr val="111111"/>
                </a:solidFill>
                <a:latin typeface="Constantia"/>
              </a:rPr>
              <a:t>Styret i Sibirkattens Venner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2528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2528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Historie</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Foreningens historie — tjue år med sibirkatt</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Fra noen få ildsjeler til en landsdekkende forening – et tilbakeblikk på tjue år.</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SIBIRKATTENS VENNER   ·   UTKAST</a:t>
            </a:r>
          </a:p>
        </p:txBody>
      </p:sp>
      <p:sp>
        <p:nvSpPr>
          <p:cNvPr id="7" name="Rectangle 6"/>
          <p:cNvSpPr/>
          <p:nvPr/>
        </p:nvSpPr>
        <p:spPr>
          <a:xfrm>
            <a:off x="720000" y="3420000"/>
            <a:ext cx="6120000" cy="5400000"/>
          </a:xfrm>
          <a:prstGeom prst="rect">
            <a:avLst/>
          </a:prstGeom>
          <a:solidFill>
            <a:srgbClr val="F4F2EF"/>
          </a:solidFill>
          <a:ln w="63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5904000"/>
            <a:ext cx="6120000" cy="432000"/>
          </a:xfrm>
          <a:prstGeom prst="rect">
            <a:avLst/>
          </a:prstGeom>
          <a:noFill/>
        </p:spPr>
        <p:txBody>
          <a:bodyPr wrap="square" anchor="ctr">
            <a:spAutoFit/>
          </a:bodyPr>
          <a:lstStyle/>
          <a:p>
            <a:pPr algn="ctr">
              <a:lnSpc>
                <a:spcPct val="115000"/>
              </a:lnSpc>
              <a:spcAft>
                <a:spcPts val="500"/>
              </a:spcAft>
            </a:pPr>
            <a:r>
              <a:rPr sz="1000" b="0" i="0">
                <a:solidFill>
                  <a:srgbClr val="6E6E6E"/>
                </a:solidFill>
                <a:latin typeface="Arial"/>
              </a:rPr>
              <a:t>FOTO ·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Foreningens historie — tjue år med sibirkatt</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Sibirkattens Venner ble til fordi noen få mennesker delte en stor interesse: den russiske naturrasen sibirkatt. [Fyll inn: stiftelsesår, initiativtakere og bakgrunnen for at foreningen ble startet.]</a:t>
            </a:r>
          </a:p>
          <a:p>
            <a:pPr algn="l">
              <a:lnSpc>
                <a:spcPct val="125000"/>
              </a:lnSpc>
              <a:spcAft>
                <a:spcPts val="500"/>
              </a:spcAft>
            </a:pPr>
            <a:r>
              <a:rPr sz="1200" b="0" i="0">
                <a:solidFill>
                  <a:srgbClr val="111111"/>
                </a:solidFill>
                <a:latin typeface="Constantia"/>
              </a:rPr>
              <a:t>De første årene</a:t>
            </a:r>
          </a:p>
          <a:p>
            <a:pPr algn="l">
              <a:lnSpc>
                <a:spcPct val="125000"/>
              </a:lnSpc>
              <a:spcAft>
                <a:spcPts val="500"/>
              </a:spcAft>
            </a:pPr>
            <a:r>
              <a:rPr sz="1200" b="0" i="0">
                <a:solidFill>
                  <a:srgbClr val="111111"/>
                </a:solidFill>
                <a:latin typeface="Constantia"/>
              </a:rPr>
              <a:t>I begynnelsen handlet mye om å gjøre rasen kjent. Sibirkatten var ny i norsk sammenheng – de første avlskattene kom til landet rundt årtusenskiftet, og interessen vokste raskt. [Fyll inn: de første kullene, de første utstillingene og hvordan medlemstallet utviklet seg.]</a:t>
            </a:r>
          </a:p>
          <a:p>
            <a:pPr algn="l">
              <a:lnSpc>
                <a:spcPct val="125000"/>
              </a:lnSpc>
              <a:spcAft>
                <a:spcPts val="500"/>
              </a:spcAft>
            </a:pPr>
            <a:r>
              <a:rPr sz="1200" b="0" i="0">
                <a:solidFill>
                  <a:srgbClr val="111111"/>
                </a:solidFill>
                <a:latin typeface="Constantia"/>
              </a:rPr>
              <a:t>Testhjemmene</a:t>
            </a:r>
          </a:p>
          <a:p>
            <a:pPr algn="l">
              <a:lnSpc>
                <a:spcPct val="125000"/>
              </a:lnSpc>
              <a:spcAft>
                <a:spcPts val="500"/>
              </a:spcAft>
            </a:pPr>
            <a:r>
              <a:rPr sz="1200" b="0" i="0">
                <a:solidFill>
                  <a:srgbClr val="111111"/>
                </a:solidFill>
                <a:latin typeface="Constantia"/>
              </a:rPr>
              <a:t>Et av foreningens viktigste bidrag har vært testhjemformidlingen. Allerede i 2006 begynte arbeidet med uorganiserte testhjem rundt om i landet, og i 2009–2010 ble ordningen satt i system. Siden har testhjemmene gjort det mulig for mennesker med usikker kattepelsallergi å møte en sibirkatt før de tar valget. Du kan lese mer i egen artikkel i denne utgaven.</a:t>
            </a:r>
          </a:p>
          <a:p>
            <a:pPr algn="l">
              <a:lnSpc>
                <a:spcPct val="125000"/>
              </a:lnSpc>
              <a:spcAft>
                <a:spcPts val="500"/>
              </a:spcAft>
            </a:pPr>
            <a:r>
              <a:rPr sz="1200" b="0" i="0">
                <a:solidFill>
                  <a:srgbClr val="111111"/>
                </a:solidFill>
                <a:latin typeface="Constantia"/>
              </a:rPr>
              <a:t>Kunnskap og fellesskap</a:t>
            </a:r>
          </a:p>
          <a:p>
            <a:pPr algn="l">
              <a:lnSpc>
                <a:spcPct val="125000"/>
              </a:lnSpc>
              <a:spcAft>
                <a:spcPts val="500"/>
              </a:spcAft>
            </a:pPr>
            <a:r>
              <a:rPr sz="1200" b="0" i="0">
                <a:solidFill>
                  <a:srgbClr val="111111"/>
                </a:solidFill>
                <a:latin typeface="Constantia"/>
              </a:rPr>
              <a:t>Gjennom årene har foreningen delt kunnskap om helse, avl og pelsstell, og samlet medlemmer på tvers av landet. [Fyll inn: raseseminar, treff, utstillingsdeltakelse og andre høydepunkter.] Facebook-gruppen og Sibirposten har knyttet medlemmene tettere sammen.</a:t>
            </a:r>
          </a:p>
          <a:p>
            <a:pPr algn="l">
              <a:lnSpc>
                <a:spcPct val="125000"/>
              </a:lnSpc>
              <a:spcAft>
                <a:spcPts val="500"/>
              </a:spcAft>
            </a:pPr>
            <a:r>
              <a:rPr sz="1200" b="0" i="0">
                <a:solidFill>
                  <a:srgbClr val="111111"/>
                </a:solidFill>
                <a:latin typeface="Constantia"/>
              </a:rPr>
              <a:t>Veien videre</a:t>
            </a:r>
          </a:p>
          <a:p>
            <a:pPr algn="l">
              <a:lnSpc>
                <a:spcPct val="125000"/>
              </a:lnSpc>
              <a:spcAft>
                <a:spcPts val="500"/>
              </a:spcAft>
            </a:pPr>
            <a:r>
              <a:rPr sz="1200" b="0" i="0">
                <a:solidFill>
                  <a:srgbClr val="111111"/>
                </a:solidFill>
                <a:latin typeface="Constantia"/>
              </a:rPr>
              <a:t>Tjue år er en god start. [Fyll inn: styrets tanker om framtiden – avlsbase, helse, og rekruttering av nye oppdrettere og medlemmer.]</a:t>
            </a:r>
          </a:p>
          <a:p>
            <a:pPr algn="l">
              <a:lnSpc>
                <a:spcPct val="125000"/>
              </a:lnSpc>
              <a:spcAft>
                <a:spcPts val="500"/>
              </a:spcAft>
            </a:pPr>
            <a:r>
              <a:rPr sz="1200" b="0" i="0">
                <a:solidFill>
                  <a:srgbClr val="111111"/>
                </a:solidFill>
                <a:latin typeface="Constantia"/>
              </a:rPr>
              <a:t>Kilder: foreningens egne arkiver og testhjemformidlingens historikk. Suppleres av Randi m.fl.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9720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9720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Rasen</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Sibirkatten — en naturlig rase med lange linjer</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En ung rase med dype røtter — formet av naturen i det sibirske klimaet, sterk, sunn og helt særegen.</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TEKST — SIBIRKATTENS VENNER</a:t>
            </a:r>
          </a:p>
        </p:txBody>
      </p:sp>
      <p:pic>
        <p:nvPicPr>
          <p:cNvPr id="7" name="Picture 6" descr="8e4ae722533d86a1.jpg"/>
          <p:cNvPicPr>
            <a:picLocks noChangeAspect="1"/>
          </p:cNvPicPr>
          <p:nvPr/>
        </p:nvPicPr>
        <p:blipFill>
          <a:blip r:embed="rId2"/>
          <a:stretch>
            <a:fillRect/>
          </a:stretch>
        </p:blipFill>
        <p:spPr>
          <a:xfrm>
            <a:off x="720000" y="3420000"/>
            <a:ext cx="6120000" cy="5400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Sibirkatten — en naturlig rase med lange linjer</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Det finnes flere varianter av historien bak opphavet til sibirkatten slik vi kjenner denne katterasen i dag og mange mener at opphavet er fra 1600-tallet da russiske immigranter tok med seg katter til Sibir. Disse kattene levde isolert og utviklet seg i det sibirske klimaet samtidig som at det er en sjanse for at de parret seg med villkatter.</a:t>
            </a:r>
          </a:p>
          <a:p>
            <a:pPr algn="l">
              <a:lnSpc>
                <a:spcPct val="125000"/>
              </a:lnSpc>
              <a:spcAft>
                <a:spcPts val="500"/>
              </a:spcAft>
            </a:pPr>
            <a:r>
              <a:rPr sz="1200" b="0" i="0">
                <a:solidFill>
                  <a:srgbClr val="111111"/>
                </a:solidFill>
                <a:latin typeface="Constantia"/>
              </a:rPr>
              <a:t>Resultatet er en sterk, sunn og hardfør katt med en helt særegen kombinasjon av kraft og eleganse. Det er nettopp denne naturlige bakgrunnen som gjør sibirkatten unik. Den er ikke “skapt” etter menneskers idealer alene, men formet av naturen selv.</a:t>
            </a:r>
          </a:p>
          <a:p>
            <a:pPr algn="l">
              <a:lnSpc>
                <a:spcPct val="125000"/>
              </a:lnSpc>
              <a:spcAft>
                <a:spcPts val="500"/>
              </a:spcAft>
            </a:pPr>
            <a:r>
              <a:rPr sz="1200" b="0" i="0">
                <a:solidFill>
                  <a:srgbClr val="111111"/>
                </a:solidFill>
                <a:latin typeface="Constantia"/>
              </a:rPr>
              <a:t>Sibirkatten er en ung rase i rasekattsammenheng. Det var på 1980-tallet at raseklubber oppdaget katten og dens egenskaper. Systematisk og planlagt avl ble startet i St. Petersburg i 1987 og den ble akseptert av den første russiske katteorganisasjonen (SSF) i 1989. Den første internasjonale organisasjon som aksepterte rasen var WCF i 1991, og i 1997 ble rasen godkjent av Fédération Internationale Féline d´Europé (FIFe), og fra med 1998 fikk rasen sertifikatrettigheter.</a:t>
            </a:r>
          </a:p>
          <a:p>
            <a:pPr algn="l">
              <a:lnSpc>
                <a:spcPct val="125000"/>
              </a:lnSpc>
              <a:spcAft>
                <a:spcPts val="500"/>
              </a:spcAft>
            </a:pPr>
            <a:r>
              <a:rPr sz="1200" b="0" i="0">
                <a:solidFill>
                  <a:srgbClr val="111111"/>
                </a:solidFill>
                <a:latin typeface="Constantia"/>
              </a:rPr>
              <a:t>Norge fikk sine første sibirkatter da to finske kastrater flyttet med sine eiere til landet i 1997. De 10 første russiske importene som la grunnlaget for avelsbasen i Sverige kom i 2000, og med utspring i det kom S*Knjaze Arina Krasa som den første avlskatten til Norge (Trondheim) i 2001.</a:t>
            </a:r>
          </a:p>
          <a:p>
            <a:pPr algn="l">
              <a:lnSpc>
                <a:spcPct val="125000"/>
              </a:lnSpc>
              <a:spcAft>
                <a:spcPts val="500"/>
              </a:spcAft>
            </a:pPr>
            <a:r>
              <a:rPr sz="1200" b="0" i="0">
                <a:solidFill>
                  <a:srgbClr val="111111"/>
                </a:solidFill>
                <a:latin typeface="Constantia"/>
              </a:rPr>
              <a:t>Hva kjennetegner den tradisjonelle sibirkatten</a:t>
            </a:r>
          </a:p>
          <a:p>
            <a:pPr algn="l">
              <a:lnSpc>
                <a:spcPct val="125000"/>
              </a:lnSpc>
              <a:spcAft>
                <a:spcPts val="500"/>
              </a:spcAft>
            </a:pPr>
            <a:r>
              <a:rPr sz="1200" b="0" i="0">
                <a:solidFill>
                  <a:srgbClr val="111111"/>
                </a:solidFill>
                <a:latin typeface="Constantia"/>
              </a:rPr>
              <a:t>Den tradisjonelle sibirkatten er en middels til stor katt med en kraftig og muskuløs kropp. Hunnkatten blir ofte 4-7 kg, mens hannkatten kan bli 4-9 kg. Den gir et inntrykk av styrke uten å virke tung, og har en smidig og balansert fremtoning.</a:t>
            </a:r>
          </a:p>
          <a:p>
            <a:pPr algn="l">
              <a:lnSpc>
                <a:spcPct val="125000"/>
              </a:lnSpc>
              <a:spcAft>
                <a:spcPts val="500"/>
              </a:spcAft>
            </a:pPr>
            <a:r>
              <a:rPr sz="1200" b="0" i="0">
                <a:solidFill>
                  <a:srgbClr val="111111"/>
                </a:solidFill>
                <a:latin typeface="Constantia"/>
              </a:rPr>
              <a:t>Hodet er bredt med myke konturer, og øynene er store og uttrykksfulle, ofte med et varmt og våkent blikk. Ørene er middels store og godt plassert, gjerne med små hårdusker.</a:t>
            </a:r>
          </a:p>
          <a:p>
            <a:pPr algn="l">
              <a:lnSpc>
                <a:spcPct val="125000"/>
              </a:lnSpc>
              <a:spcAft>
                <a:spcPts val="500"/>
              </a:spcAft>
            </a:pPr>
            <a:r>
              <a:rPr sz="1200" b="0" i="0">
                <a:solidFill>
                  <a:srgbClr val="111111"/>
                </a:solidFill>
                <a:latin typeface="Constantia"/>
              </a:rPr>
              <a:t>Pelsen er et av rasens mest karakteristiske trekk. Den er tredelt, med en tett underull for å holde vinden ute og tykkere vannavvisende dekkhår. Dette gjør katten godt rustet for omgivelsene de kommer fra. Pelsen varierer gjennom året, med en fyldigere vinterpels og en lettere sommerpels.</a:t>
            </a:r>
          </a:p>
          <a:p>
            <a:pPr algn="l">
              <a:lnSpc>
                <a:spcPct val="125000"/>
              </a:lnSpc>
              <a:spcAft>
                <a:spcPts val="500"/>
              </a:spcAft>
            </a:pPr>
            <a:r>
              <a:rPr sz="1200" b="0" i="0">
                <a:solidFill>
                  <a:srgbClr val="111111"/>
                </a:solidFill>
                <a:latin typeface="Constantia"/>
              </a:rPr>
              <a:t>Temperamentsmessig er sibirkatten kjent for å være sosial, trygg og intelligent. Den knytter sterke bånd til sine mennesker, men beholder samtidig en viss selvstendighet. Mange beskriver den som “hundelignende” i sin lojalitet og nysgjerrighet.</a:t>
            </a:r>
          </a:p>
          <a:p>
            <a:pPr algn="l">
              <a:lnSpc>
                <a:spcPct val="125000"/>
              </a:lnSpc>
              <a:spcAft>
                <a:spcPts val="500"/>
              </a:spcAft>
            </a:pPr>
            <a:r>
              <a:rPr sz="1200" b="0" i="0">
                <a:solidFill>
                  <a:srgbClr val="111111"/>
                </a:solidFill>
                <a:latin typeface="Constantia"/>
              </a:rPr>
              <a:t>Helse og genetikk – et ansvar for fremtiden</a:t>
            </a:r>
          </a:p>
          <a:p>
            <a:pPr algn="l">
              <a:lnSpc>
                <a:spcPct val="125000"/>
              </a:lnSpc>
              <a:spcAft>
                <a:spcPts val="500"/>
              </a:spcAft>
            </a:pPr>
            <a:r>
              <a:rPr sz="1200" b="0" i="0">
                <a:solidFill>
                  <a:srgbClr val="111111"/>
                </a:solidFill>
                <a:latin typeface="Constantia"/>
              </a:rPr>
              <a:t>En av styrkene til sibirkatten er dens solide helse, noe som i stor grad skyldes dens naturlige opprinnelse. Likevel er bevisst og ansvarlig avl avgjørende for å bevare dette også i fremtiden.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Oppdrettere arbeider målrettet med å følge opp helse, genetisk variasjon og gode linjer. Testing og åpenhet rundt helseutfordringer er viktige verktøy for å sikre sunne katter.</a:t>
            </a:r>
          </a:p>
          <a:p>
            <a:pPr algn="l">
              <a:lnSpc>
                <a:spcPct val="125000"/>
              </a:lnSpc>
              <a:spcAft>
                <a:spcPts val="500"/>
              </a:spcAft>
            </a:pPr>
            <a:r>
              <a:rPr sz="1200" b="0" i="0">
                <a:solidFill>
                  <a:srgbClr val="111111"/>
                </a:solidFill>
                <a:latin typeface="Constantia"/>
              </a:rPr>
              <a:t>Som hos mange andre raser finnes det enkelte tilstander man er oppmerksom på, og derfor er samarbeid mellom oppdrettere, eiere og veterinærer avgjørende. God kunnskap og langsiktig arbeid gir resultater så man kan fortsette å ha en frisk rase og solid avlsbase å bygge videre på.</a:t>
            </a:r>
          </a:p>
          <a:p>
            <a:pPr algn="l">
              <a:lnSpc>
                <a:spcPct val="125000"/>
              </a:lnSpc>
              <a:spcAft>
                <a:spcPts val="500"/>
              </a:spcAft>
            </a:pPr>
            <a:r>
              <a:rPr sz="1200" b="0" i="0">
                <a:solidFill>
                  <a:srgbClr val="111111"/>
                </a:solidFill>
                <a:latin typeface="Constantia"/>
              </a:rPr>
              <a:t>En rase for både hjerte og hjem</a:t>
            </a:r>
          </a:p>
          <a:p>
            <a:pPr algn="l">
              <a:lnSpc>
                <a:spcPct val="125000"/>
              </a:lnSpc>
              <a:spcAft>
                <a:spcPts val="500"/>
              </a:spcAft>
            </a:pPr>
            <a:r>
              <a:rPr sz="1200" b="0" i="0">
                <a:solidFill>
                  <a:srgbClr val="111111"/>
                </a:solidFill>
                <a:latin typeface="Constantia"/>
              </a:rPr>
              <a:t>Sibirkatten er mer enn sitt vakre ytre. Den er en del av hverdagen, en følgesvenn og et familiemedlem. Med sin kombinasjon av styrke, intelligens og varme personlighet har den funnet veien inn i mange hjem – og hjerter.</a:t>
            </a:r>
          </a:p>
          <a:p>
            <a:pPr algn="l">
              <a:lnSpc>
                <a:spcPct val="125000"/>
              </a:lnSpc>
              <a:spcAft>
                <a:spcPts val="500"/>
              </a:spcAft>
            </a:pPr>
            <a:r>
              <a:rPr sz="1200" b="0" i="0">
                <a:solidFill>
                  <a:srgbClr val="111111"/>
                </a:solidFill>
                <a:latin typeface="Constantia"/>
              </a:rPr>
              <a:t>Å bevare rasens særpreg handler ikke bare om utseende, men også om å ta vare på det som gjør sibirkatten til nettopp det den er: en naturlig, robust og kjærlig katt med en lang historie bak seg og en spennende fremtid foran seg. Det er ingen tvil om at sibirkatten har funnet seg en plass i hjertet til mange mennesker og er kommet for å bli i våre hjem og hjerter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648000"/>
            <a:ext cx="6120000" cy="288000"/>
          </a:xfrm>
          <a:prstGeom prst="rect">
            <a:avLst/>
          </a:prstGeom>
          <a:noFill/>
        </p:spPr>
        <p:txBody>
          <a:bodyPr wrap="square" anchor="t">
            <a:spAutoFit/>
          </a:bodyPr>
          <a:lstStyle/>
          <a:p>
            <a:pPr algn="l">
              <a:lnSpc>
                <a:spcPct val="115000"/>
              </a:lnSpc>
              <a:spcAft>
                <a:spcPts val="500"/>
              </a:spcAft>
            </a:pPr>
            <a:r>
              <a:rPr sz="1100" b="1" i="0">
                <a:solidFill>
                  <a:srgbClr val="6E6E6E"/>
                </a:solidFill>
                <a:latin typeface="Arial"/>
              </a:rPr>
              <a:t>BILDER</a:t>
            </a:r>
          </a:p>
        </p:txBody>
      </p:sp>
      <p:pic>
        <p:nvPicPr>
          <p:cNvPr id="3" name="Picture 2" descr="0a4eaca28eeda6e1.jpg"/>
          <p:cNvPicPr>
            <a:picLocks noChangeAspect="1"/>
          </p:cNvPicPr>
          <p:nvPr/>
        </p:nvPicPr>
        <p:blipFill>
          <a:blip r:embed="rId2"/>
          <a:stretch>
            <a:fillRect/>
          </a:stretch>
        </p:blipFill>
        <p:spPr>
          <a:xfrm>
            <a:off x="720000" y="1152000"/>
            <a:ext cx="2952000" cy="2160000"/>
          </a:xfrm>
          <a:prstGeom prst="rect">
            <a:avLst/>
          </a:prstGeom>
        </p:spPr>
      </p:pic>
      <p:pic>
        <p:nvPicPr>
          <p:cNvPr id="4" name="Picture 3" descr="57a068436e5f1f86.jpg"/>
          <p:cNvPicPr>
            <a:picLocks noChangeAspect="1"/>
          </p:cNvPicPr>
          <p:nvPr/>
        </p:nvPicPr>
        <p:blipFill>
          <a:blip r:embed="rId3"/>
          <a:stretch>
            <a:fillRect/>
          </a:stretch>
        </p:blipFill>
        <p:spPr>
          <a:xfrm>
            <a:off x="3888000" y="1152000"/>
            <a:ext cx="2952000" cy="2160000"/>
          </a:xfrm>
          <a:prstGeom prst="rect">
            <a:avLst/>
          </a:prstGeom>
        </p:spPr>
      </p:pic>
      <p:pic>
        <p:nvPicPr>
          <p:cNvPr id="5" name="Picture 4" descr="f76abdbec19934cb.jpg"/>
          <p:cNvPicPr>
            <a:picLocks noChangeAspect="1"/>
          </p:cNvPicPr>
          <p:nvPr/>
        </p:nvPicPr>
        <p:blipFill>
          <a:blip r:embed="rId4"/>
          <a:stretch>
            <a:fillRect/>
          </a:stretch>
        </p:blipFill>
        <p:spPr>
          <a:xfrm>
            <a:off x="720000" y="3528000"/>
            <a:ext cx="2952000" cy="2160000"/>
          </a:xfrm>
          <a:prstGeom prst="rect">
            <a:avLst/>
          </a:prstGeom>
        </p:spPr>
      </p:pic>
      <p:pic>
        <p:nvPicPr>
          <p:cNvPr id="6" name="Picture 5" descr="2e3e024a29955a9c.jpg"/>
          <p:cNvPicPr>
            <a:picLocks noChangeAspect="1"/>
          </p:cNvPicPr>
          <p:nvPr/>
        </p:nvPicPr>
        <p:blipFill>
          <a:blip r:embed="rId5"/>
          <a:stretch>
            <a:fillRect/>
          </a:stretch>
        </p:blipFill>
        <p:spPr>
          <a:xfrm>
            <a:off x="3888000" y="3528000"/>
            <a:ext cx="2952000" cy="2160000"/>
          </a:xfrm>
          <a:prstGeom prst="rect">
            <a:avLst/>
          </a:prstGeom>
        </p:spPr>
      </p:pic>
      <p:pic>
        <p:nvPicPr>
          <p:cNvPr id="7" name="Picture 6" descr="4530db7d5ba1d376.jpg"/>
          <p:cNvPicPr>
            <a:picLocks noChangeAspect="1"/>
          </p:cNvPicPr>
          <p:nvPr/>
        </p:nvPicPr>
        <p:blipFill>
          <a:blip r:embed="rId6"/>
          <a:stretch>
            <a:fillRect/>
          </a:stretch>
        </p:blipFill>
        <p:spPr>
          <a:xfrm>
            <a:off x="720000" y="5904000"/>
            <a:ext cx="2952000" cy="2160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2528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2528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Oppdrett</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Kattunge til voksen</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Det første året legger grunnlaget for resten av kattens liv — om håndtering, trygghet og gode oppdrettere.</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TEKST — SIBIRKATTENS VENNER</a:t>
            </a:r>
          </a:p>
        </p:txBody>
      </p:sp>
      <p:pic>
        <p:nvPicPr>
          <p:cNvPr id="7" name="Picture 6" descr="f9cb7f16aa79135b.jpg"/>
          <p:cNvPicPr>
            <a:picLocks noChangeAspect="1"/>
          </p:cNvPicPr>
          <p:nvPr/>
        </p:nvPicPr>
        <p:blipFill>
          <a:blip r:embed="rId2"/>
          <a:stretch>
            <a:fillRect/>
          </a:stretch>
        </p:blipFill>
        <p:spPr>
          <a:xfrm>
            <a:off x="720000" y="3420000"/>
            <a:ext cx="6120000" cy="540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Kattunge til voksen</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Fra kattunge til voksen - slik legger du grunnlaget for en trygg sibirkatt</a:t>
            </a:r>
          </a:p>
          <a:p>
            <a:pPr algn="l">
              <a:lnSpc>
                <a:spcPct val="125000"/>
              </a:lnSpc>
              <a:spcAft>
                <a:spcPts val="500"/>
              </a:spcAft>
            </a:pPr>
            <a:r>
              <a:rPr sz="1200" b="0" i="0">
                <a:solidFill>
                  <a:srgbClr val="111111"/>
                </a:solidFill>
                <a:latin typeface="Constantia"/>
              </a:rPr>
              <a:t>Sibirkatten er kjent for sitt vennlige temperament, sin intelligens og sitt robuste uttrykk. Mange beskriver rasen som sosial, nysgjerrig og svært knyttet til familien sin. Samtidig er det lett å glemme at også den store, selvsikre voksne sibiren en gang var en liten kattunge som måtte lære hvordan verden fungerer.</a:t>
            </a:r>
          </a:p>
          <a:p>
            <a:pPr algn="l">
              <a:lnSpc>
                <a:spcPct val="125000"/>
              </a:lnSpc>
              <a:spcAft>
                <a:spcPts val="500"/>
              </a:spcAft>
            </a:pPr>
            <a:r>
              <a:rPr sz="1200" b="0" i="0">
                <a:solidFill>
                  <a:srgbClr val="111111"/>
                </a:solidFill>
                <a:latin typeface="Constantia"/>
              </a:rPr>
              <a:t>Det første året legger grunnlaget for resten av kattens liv. Måten vi håndterer, trener og møter kattungen på i denne perioden, påvirker alt fra trygghet og selvtillit til håndtering hos veterinær og forholdet til mennesker senere i livet.</a:t>
            </a:r>
          </a:p>
          <a:p>
            <a:pPr algn="l">
              <a:lnSpc>
                <a:spcPct val="125000"/>
              </a:lnSpc>
              <a:spcAft>
                <a:spcPts val="500"/>
              </a:spcAft>
            </a:pPr>
            <a:r>
              <a:rPr sz="1200" b="0" i="0">
                <a:solidFill>
                  <a:srgbClr val="111111"/>
                </a:solidFill>
                <a:latin typeface="Constantia"/>
              </a:rPr>
              <a:t>En sibirkatt vokser lenge</a:t>
            </a:r>
          </a:p>
          <a:p>
            <a:pPr algn="l">
              <a:lnSpc>
                <a:spcPct val="125000"/>
              </a:lnSpc>
              <a:spcAft>
                <a:spcPts val="500"/>
              </a:spcAft>
            </a:pPr>
            <a:r>
              <a:rPr sz="1200" b="0" i="0">
                <a:solidFill>
                  <a:srgbClr val="111111"/>
                </a:solidFill>
                <a:latin typeface="Constantia"/>
              </a:rPr>
              <a:t>Sibirkatten er en naturlig rase som utvikler seg saktere enn mange andre katter. Selv om kattungen virker stor tidlig, er den ofte ikke fullt fysisk eller mentalt moden før rundt fem års alder. Hannkatter kan bli kraftige og tunge, og det gjør tidlig håndteringstrening ekstra viktig.</a:t>
            </a:r>
          </a:p>
          <a:p>
            <a:pPr algn="l">
              <a:lnSpc>
                <a:spcPct val="125000"/>
              </a:lnSpc>
              <a:spcAft>
                <a:spcPts val="500"/>
              </a:spcAft>
            </a:pPr>
            <a:r>
              <a:rPr sz="1200" b="0" i="0">
                <a:solidFill>
                  <a:srgbClr val="111111"/>
                </a:solidFill>
                <a:latin typeface="Constantia"/>
              </a:rPr>
              <a:t>En liten kattunge er enkel å løfte. En voksen sibirhann på opp til ni kilo er noe helt annet. Derfor lønner det seg å starte tidlig med gode rutiner.</a:t>
            </a:r>
          </a:p>
          <a:p>
            <a:pPr algn="l">
              <a:lnSpc>
                <a:spcPct val="125000"/>
              </a:lnSpc>
              <a:spcAft>
                <a:spcPts val="500"/>
              </a:spcAft>
            </a:pPr>
            <a:r>
              <a:rPr sz="1200" b="0" i="0">
                <a:solidFill>
                  <a:srgbClr val="111111"/>
                </a:solidFill>
                <a:latin typeface="Constantia"/>
              </a:rPr>
              <a:t>Håndtering er trening for livet</a:t>
            </a:r>
          </a:p>
          <a:p>
            <a:pPr algn="l">
              <a:lnSpc>
                <a:spcPct val="125000"/>
              </a:lnSpc>
              <a:spcAft>
                <a:spcPts val="500"/>
              </a:spcAft>
            </a:pPr>
            <a:r>
              <a:rPr sz="1200" b="0" i="0">
                <a:solidFill>
                  <a:srgbClr val="111111"/>
                </a:solidFill>
                <a:latin typeface="Constantia"/>
              </a:rPr>
              <a:t>En god oppdretter har allerede håndtert kattungene fra de er små. Kattungene er blitt løftet, kost med, undersøkt og vant til menneskelig kontakt. Når kattungen flytter hjem til sin nye familie, bør denne treningen fortsette.</a:t>
            </a:r>
          </a:p>
          <a:p>
            <a:pPr algn="l">
              <a:lnSpc>
                <a:spcPct val="125000"/>
              </a:lnSpc>
              <a:spcAft>
                <a:spcPts val="500"/>
              </a:spcAft>
            </a:pPr>
            <a:r>
              <a:rPr sz="1200" b="0" i="0">
                <a:solidFill>
                  <a:srgbClr val="111111"/>
                </a:solidFill>
                <a:latin typeface="Constantia"/>
              </a:rPr>
              <a:t>Målet er ikke at katten skal “finne seg i alt”, men at den lærer at håndtering er trygt.</a:t>
            </a:r>
          </a:p>
          <a:p>
            <a:pPr algn="l">
              <a:lnSpc>
                <a:spcPct val="125000"/>
              </a:lnSpc>
              <a:spcAft>
                <a:spcPts val="500"/>
              </a:spcAft>
            </a:pPr>
            <a:r>
              <a:rPr sz="1200" b="0" i="0">
                <a:solidFill>
                  <a:srgbClr val="111111"/>
                </a:solidFill>
                <a:latin typeface="Constantia"/>
              </a:rPr>
              <a:t>Slik løfter du kattungen riktig</a:t>
            </a:r>
          </a:p>
          <a:p>
            <a:pPr algn="l">
              <a:lnSpc>
                <a:spcPct val="125000"/>
              </a:lnSpc>
              <a:spcAft>
                <a:spcPts val="500"/>
              </a:spcAft>
            </a:pPr>
            <a:r>
              <a:rPr sz="1200" b="0" i="0">
                <a:solidFill>
                  <a:srgbClr val="111111"/>
                </a:solidFill>
                <a:latin typeface="Constantia"/>
              </a:rPr>
              <a:t>Ta kattungen opp på en mild, men sikker måte. Den skal ikke henge i magen. Hold den med én hånd bak frambeina og støtt bakparten med den andre hånden. Dette gir et stabilt og trygt grep.</a:t>
            </a:r>
          </a:p>
          <a:p>
            <a:pPr algn="l">
              <a:lnSpc>
                <a:spcPct val="125000"/>
              </a:lnSpc>
              <a:spcAft>
                <a:spcPts val="500"/>
              </a:spcAft>
            </a:pPr>
            <a:r>
              <a:rPr sz="1200" b="0" i="0">
                <a:solidFill>
                  <a:srgbClr val="111111"/>
                </a:solidFill>
                <a:latin typeface="Constantia"/>
              </a:rPr>
              <a:t>Hvis kattungen vrir seg, bør du unngå å sette den ned akkurat i det øyeblikket. Da lærer den fort at motstand fungerer. Vent heller til den roer seg litt før du setter den ned igjen.</a:t>
            </a:r>
          </a:p>
          <a:p>
            <a:pPr algn="l">
              <a:lnSpc>
                <a:spcPct val="125000"/>
              </a:lnSpc>
              <a:spcAft>
                <a:spcPts val="500"/>
              </a:spcAft>
            </a:pPr>
            <a:r>
              <a:rPr sz="1200" b="0" i="0">
                <a:solidFill>
                  <a:srgbClr val="111111"/>
                </a:solidFill>
                <a:latin typeface="Constantia"/>
              </a:rPr>
              <a:t>Samtidig er det viktig å være forutseende. Mange kattunger begynner å bli urolige etter noen sekunder. Sett dem gjerne ned før situasjonen blir stressende.</a:t>
            </a:r>
          </a:p>
          <a:p>
            <a:pPr algn="l">
              <a:lnSpc>
                <a:spcPct val="125000"/>
              </a:lnSpc>
              <a:spcAft>
                <a:spcPts val="500"/>
              </a:spcAft>
            </a:pPr>
            <a:r>
              <a:rPr sz="1200" b="0" i="0">
                <a:solidFill>
                  <a:srgbClr val="111111"/>
                </a:solidFill>
                <a:latin typeface="Constantia"/>
              </a:rPr>
              <a:t>Små økter gir best resultat</a:t>
            </a:r>
          </a:p>
          <a:p>
            <a:pPr algn="l">
              <a:lnSpc>
                <a:spcPct val="125000"/>
              </a:lnSpc>
              <a:spcAft>
                <a:spcPts val="500"/>
              </a:spcAft>
            </a:pPr>
            <a:r>
              <a:rPr sz="1200" b="0" i="0">
                <a:solidFill>
                  <a:srgbClr val="111111"/>
                </a:solidFill>
                <a:latin typeface="Constantia"/>
              </a:rPr>
              <a:t>Håndtering skal være korte, rolige og positive opplevelser. Tren gjerne på:</a:t>
            </a:r>
          </a:p>
          <a:p>
            <a:pPr algn="l">
              <a:lnSpc>
                <a:spcPct val="125000"/>
              </a:lnSpc>
              <a:spcAft>
                <a:spcPts val="500"/>
              </a:spcAft>
            </a:pPr>
            <a:r>
              <a:rPr sz="1200" b="0" i="0">
                <a:solidFill>
                  <a:srgbClr val="111111"/>
                </a:solidFill>
                <a:latin typeface="Constantia"/>
              </a:rPr>
              <a:t>å se på tenner</a:t>
            </a:r>
          </a:p>
          <a:p>
            <a:pPr algn="l">
              <a:lnSpc>
                <a:spcPct val="125000"/>
              </a:lnSpc>
              <a:spcAft>
                <a:spcPts val="500"/>
              </a:spcAft>
            </a:pPr>
            <a:r>
              <a:rPr sz="1200" b="0" i="0">
                <a:solidFill>
                  <a:srgbClr val="111111"/>
                </a:solidFill>
                <a:latin typeface="Constantia"/>
              </a:rPr>
              <a:t>å holde i poter</a:t>
            </a:r>
          </a:p>
          <a:p>
            <a:pPr algn="l">
              <a:lnSpc>
                <a:spcPct val="125000"/>
              </a:lnSpc>
              <a:spcAft>
                <a:spcPts val="500"/>
              </a:spcAft>
            </a:pPr>
            <a:r>
              <a:rPr sz="1200" b="0" i="0">
                <a:solidFill>
                  <a:srgbClr val="111111"/>
                </a:solidFill>
                <a:latin typeface="Constantia"/>
              </a:rPr>
              <a:t>å klippe klør</a:t>
            </a:r>
          </a:p>
          <a:p>
            <a:pPr algn="l">
              <a:lnSpc>
                <a:spcPct val="125000"/>
              </a:lnSpc>
              <a:spcAft>
                <a:spcPts val="500"/>
              </a:spcAft>
            </a:pPr>
            <a:r>
              <a:rPr sz="1200" b="0" i="0">
                <a:solidFill>
                  <a:srgbClr val="111111"/>
                </a:solidFill>
                <a:latin typeface="Constantia"/>
              </a:rPr>
              <a:t>å børste pels</a:t>
            </a:r>
          </a:p>
          <a:p>
            <a:pPr algn="l">
              <a:lnSpc>
                <a:spcPct val="125000"/>
              </a:lnSpc>
              <a:spcAft>
                <a:spcPts val="500"/>
              </a:spcAft>
            </a:pPr>
            <a:r>
              <a:rPr sz="1200" b="0" i="0">
                <a:solidFill>
                  <a:srgbClr val="111111"/>
                </a:solidFill>
                <a:latin typeface="Constantia"/>
              </a:rPr>
              <a:t>å åpne munnen</a:t>
            </a:r>
          </a:p>
          <a:p>
            <a:pPr algn="l">
              <a:lnSpc>
                <a:spcPct val="125000"/>
              </a:lnSpc>
              <a:spcAft>
                <a:spcPts val="500"/>
              </a:spcAft>
            </a:pPr>
            <a:r>
              <a:rPr sz="1200" b="0" i="0">
                <a:solidFill>
                  <a:srgbClr val="111111"/>
                </a:solidFill>
                <a:latin typeface="Constantia"/>
              </a:rPr>
              <a:t>å bli løftet og båret</a:t>
            </a:r>
          </a:p>
          <a:p>
            <a:pPr algn="l">
              <a:lnSpc>
                <a:spcPct val="125000"/>
              </a:lnSpc>
              <a:spcAft>
                <a:spcPts val="500"/>
              </a:spcAft>
            </a:pPr>
            <a:r>
              <a:rPr sz="1200" b="0" i="0">
                <a:solidFill>
                  <a:srgbClr val="111111"/>
                </a:solidFill>
                <a:latin typeface="Constantia"/>
              </a:rPr>
              <a:t>Sibirkatten har en tett, vannavstøtende pels som krever pelsstell gjennom hele livet. Selv om mange sibirer har relativt enkel pels sammenlignet med enkelte langhårraser, er det avgjørende at katten tidlig lærer å akseptere børsting og håndtering.</a:t>
            </a:r>
          </a:p>
          <a:p>
            <a:pPr algn="l">
              <a:lnSpc>
                <a:spcPct val="125000"/>
              </a:lnSpc>
              <a:spcAft>
                <a:spcPts val="500"/>
              </a:spcAft>
            </a:pPr>
            <a:r>
              <a:rPr sz="1200" b="0" i="0">
                <a:solidFill>
                  <a:srgbClr val="111111"/>
                </a:solidFill>
                <a:latin typeface="Constantia"/>
              </a:rPr>
              <a:t>Belønn alltid med ros, lek eller godbiter etterpå. Da skapes positive assosiasjoner.</a:t>
            </a:r>
          </a:p>
          <a:p>
            <a:pPr algn="l">
              <a:lnSpc>
                <a:spcPct val="125000"/>
              </a:lnSpc>
              <a:spcAft>
                <a:spcPts val="500"/>
              </a:spcAft>
            </a:pPr>
            <a:r>
              <a:rPr sz="1200" b="0" i="0">
                <a:solidFill>
                  <a:srgbClr val="111111"/>
                </a:solidFill>
                <a:latin typeface="Constantia"/>
              </a:rPr>
              <a:t>Ikke alle sibirkatter elsker kos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Sibirkatter er ofte sosiale, men personligheten varierer mye. Noen elsker fangetid fra første dag, mens andre foretrekker kontakt på egne premisser.</a:t>
            </a:r>
          </a:p>
          <a:p>
            <a:pPr algn="l">
              <a:lnSpc>
                <a:spcPct val="125000"/>
              </a:lnSpc>
              <a:spcAft>
                <a:spcPts val="500"/>
              </a:spcAft>
            </a:pPr>
            <a:r>
              <a:rPr sz="1200" b="0" i="0">
                <a:solidFill>
                  <a:srgbClr val="111111"/>
                </a:solidFill>
                <a:latin typeface="Constantia"/>
              </a:rPr>
              <a:t>Det betyr ikke at katten er lite sosial. Mange sibirer viser nærhet ved å følge eieren rundt i huset, ligge i nærheten eller “snakke” med små lyder.</a:t>
            </a:r>
          </a:p>
          <a:p>
            <a:pPr algn="l">
              <a:lnSpc>
                <a:spcPct val="125000"/>
              </a:lnSpc>
              <a:spcAft>
                <a:spcPts val="500"/>
              </a:spcAft>
            </a:pPr>
            <a:r>
              <a:rPr sz="1200" b="0" i="0">
                <a:solidFill>
                  <a:srgbClr val="111111"/>
                </a:solidFill>
                <a:latin typeface="Constantia"/>
              </a:rPr>
              <a:t>Hvis kattungen virker usikker på håndtering, kan man starte forsiktig:</a:t>
            </a:r>
          </a:p>
          <a:p>
            <a:pPr algn="l">
              <a:lnSpc>
                <a:spcPct val="125000"/>
              </a:lnSpc>
              <a:spcAft>
                <a:spcPts val="500"/>
              </a:spcAft>
            </a:pPr>
            <a:r>
              <a:rPr sz="1200" b="0" i="0">
                <a:solidFill>
                  <a:srgbClr val="111111"/>
                </a:solidFill>
                <a:latin typeface="Constantia"/>
              </a:rPr>
              <a:t>løft den opp for å se ut av vinduet</a:t>
            </a:r>
          </a:p>
          <a:p>
            <a:pPr algn="l">
              <a:lnSpc>
                <a:spcPct val="125000"/>
              </a:lnSpc>
              <a:spcAft>
                <a:spcPts val="500"/>
              </a:spcAft>
            </a:pPr>
            <a:r>
              <a:rPr sz="1200" b="0" i="0">
                <a:solidFill>
                  <a:srgbClr val="111111"/>
                </a:solidFill>
                <a:latin typeface="Constantia"/>
              </a:rPr>
              <a:t>gi godbiter i fanget</a:t>
            </a:r>
          </a:p>
          <a:p>
            <a:pPr algn="l">
              <a:lnSpc>
                <a:spcPct val="125000"/>
              </a:lnSpc>
              <a:spcAft>
                <a:spcPts val="500"/>
              </a:spcAft>
            </a:pPr>
            <a:r>
              <a:rPr sz="1200" b="0" i="0">
                <a:solidFill>
                  <a:srgbClr val="111111"/>
                </a:solidFill>
                <a:latin typeface="Constantia"/>
              </a:rPr>
              <a:t>la den få utforske trygge høyder sammen med deg</a:t>
            </a:r>
          </a:p>
          <a:p>
            <a:pPr algn="l">
              <a:lnSpc>
                <a:spcPct val="125000"/>
              </a:lnSpc>
              <a:spcAft>
                <a:spcPts val="500"/>
              </a:spcAft>
            </a:pPr>
            <a:r>
              <a:rPr sz="1200" b="0" i="0">
                <a:solidFill>
                  <a:srgbClr val="111111"/>
                </a:solidFill>
                <a:latin typeface="Constantia"/>
              </a:rPr>
              <a:t>Når kattungen tydelig er avslappet, kan du stryke den, leke med den og tilby små godbiter.</a:t>
            </a:r>
          </a:p>
          <a:p>
            <a:pPr algn="l">
              <a:lnSpc>
                <a:spcPct val="125000"/>
              </a:lnSpc>
              <a:spcAft>
                <a:spcPts val="500"/>
              </a:spcAft>
            </a:pPr>
            <a:r>
              <a:rPr sz="1200" b="0" i="0">
                <a:solidFill>
                  <a:srgbClr val="111111"/>
                </a:solidFill>
                <a:latin typeface="Constantia"/>
              </a:rPr>
              <a:t>Aktivitet og mentale utfordringer</a:t>
            </a:r>
          </a:p>
          <a:p>
            <a:pPr algn="l">
              <a:lnSpc>
                <a:spcPct val="125000"/>
              </a:lnSpc>
              <a:spcAft>
                <a:spcPts val="500"/>
              </a:spcAft>
            </a:pPr>
            <a:r>
              <a:rPr sz="1200" b="0" i="0">
                <a:solidFill>
                  <a:srgbClr val="111111"/>
                </a:solidFill>
                <a:latin typeface="Constantia"/>
              </a:rPr>
              <a:t>Sibirkatten er både atletisk og intelligent. Mange liker å klatre, hoppe og utforske høyder. Allerede som kattunge bør den få:</a:t>
            </a:r>
          </a:p>
          <a:p>
            <a:pPr algn="l">
              <a:lnSpc>
                <a:spcPct val="125000"/>
              </a:lnSpc>
              <a:spcAft>
                <a:spcPts val="500"/>
              </a:spcAft>
            </a:pPr>
            <a:r>
              <a:rPr sz="1200" b="0" i="0">
                <a:solidFill>
                  <a:srgbClr val="111111"/>
                </a:solidFill>
                <a:latin typeface="Constantia"/>
              </a:rPr>
              <a:t>kloremøbler i ulike høyder</a:t>
            </a:r>
          </a:p>
          <a:p>
            <a:pPr algn="l">
              <a:lnSpc>
                <a:spcPct val="125000"/>
              </a:lnSpc>
              <a:spcAft>
                <a:spcPts val="500"/>
              </a:spcAft>
            </a:pPr>
            <a:r>
              <a:rPr sz="1200" b="0" i="0">
                <a:solidFill>
                  <a:srgbClr val="111111"/>
                </a:solidFill>
                <a:latin typeface="Constantia"/>
              </a:rPr>
              <a:t>trygge klatremuligheter</a:t>
            </a:r>
          </a:p>
          <a:p>
            <a:pPr algn="l">
              <a:lnSpc>
                <a:spcPct val="125000"/>
              </a:lnSpc>
              <a:spcAft>
                <a:spcPts val="500"/>
              </a:spcAft>
            </a:pPr>
            <a:r>
              <a:rPr sz="1200" b="0" i="0">
                <a:solidFill>
                  <a:srgbClr val="111111"/>
                </a:solidFill>
                <a:latin typeface="Constantia"/>
              </a:rPr>
              <a:t>jaktlek med fjær eller mus</a:t>
            </a:r>
          </a:p>
          <a:p>
            <a:pPr algn="l">
              <a:lnSpc>
                <a:spcPct val="125000"/>
              </a:lnSpc>
              <a:spcAft>
                <a:spcPts val="500"/>
              </a:spcAft>
            </a:pPr>
            <a:r>
              <a:rPr sz="1200" b="0" i="0">
                <a:solidFill>
                  <a:srgbClr val="111111"/>
                </a:solidFill>
                <a:latin typeface="Constantia"/>
              </a:rPr>
              <a:t>problemløsningsleker og aktivisering</a:t>
            </a:r>
          </a:p>
          <a:p>
            <a:pPr algn="l">
              <a:lnSpc>
                <a:spcPct val="125000"/>
              </a:lnSpc>
              <a:spcAft>
                <a:spcPts val="500"/>
              </a:spcAft>
            </a:pPr>
            <a:r>
              <a:rPr sz="1200" b="0" i="0">
                <a:solidFill>
                  <a:srgbClr val="111111"/>
                </a:solidFill>
                <a:latin typeface="Constantia"/>
              </a:rPr>
              <a:t>En understimulert sibirkatt kan bli frustrert eller finne på sine egne aktiviteter – gjerne i gardiner eller på kjøkkenbenken.</a:t>
            </a:r>
          </a:p>
          <a:p>
            <a:pPr algn="l">
              <a:lnSpc>
                <a:spcPct val="125000"/>
              </a:lnSpc>
              <a:spcAft>
                <a:spcPts val="500"/>
              </a:spcAft>
            </a:pPr>
            <a:r>
              <a:rPr sz="1200" b="0" i="0">
                <a:solidFill>
                  <a:srgbClr val="111111"/>
                </a:solidFill>
                <a:latin typeface="Constantia"/>
              </a:rPr>
              <a:t>Miljøtrening ute</a:t>
            </a:r>
          </a:p>
          <a:p>
            <a:pPr algn="l">
              <a:lnSpc>
                <a:spcPct val="125000"/>
              </a:lnSpc>
              <a:spcAft>
                <a:spcPts val="500"/>
              </a:spcAft>
            </a:pPr>
            <a:r>
              <a:rPr sz="1200" b="0" i="0">
                <a:solidFill>
                  <a:srgbClr val="111111"/>
                </a:solidFill>
                <a:latin typeface="Constantia"/>
              </a:rPr>
              <a:t>Verden er stor for en liten kattunge. Gradvis miljøtrening gjør katten tryggere senere i livet.</a:t>
            </a:r>
          </a:p>
          <a:p>
            <a:pPr algn="l">
              <a:lnSpc>
                <a:spcPct val="125000"/>
              </a:lnSpc>
              <a:spcAft>
                <a:spcPts val="500"/>
              </a:spcAft>
            </a:pPr>
            <a:r>
              <a:rPr sz="1200" b="0" i="0">
                <a:solidFill>
                  <a:srgbClr val="111111"/>
                </a:solidFill>
                <a:latin typeface="Constantia"/>
              </a:rPr>
              <a:t>Når kattungen er komfortabel med transportburet, kan man ta korte turer ut på gårdsplassen mens katten sitter trygt i buret. Buret fungerer som en sikker base der kattungen kan observere verden uten å føle seg truet.</a:t>
            </a:r>
          </a:p>
          <a:p>
            <a:pPr algn="l">
              <a:lnSpc>
                <a:spcPct val="125000"/>
              </a:lnSpc>
              <a:spcAft>
                <a:spcPts val="500"/>
              </a:spcAft>
            </a:pPr>
            <a:r>
              <a:rPr sz="1200" b="0" i="0">
                <a:solidFill>
                  <a:srgbClr val="111111"/>
                </a:solidFill>
                <a:latin typeface="Constantia"/>
              </a:rPr>
              <a:t>Begynn rolig. Det er ingen grunn til å starte med travle steder eller mange mennesker. Sibirkatter er ofte nysgjerrige av natur, men også de trenger tid til å bearbeide nye inntrykk.</a:t>
            </a:r>
          </a:p>
          <a:p>
            <a:pPr algn="l">
              <a:lnSpc>
                <a:spcPct val="125000"/>
              </a:lnSpc>
              <a:spcAft>
                <a:spcPts val="500"/>
              </a:spcAft>
            </a:pPr>
            <a:r>
              <a:rPr sz="1200" b="0" i="0">
                <a:solidFill>
                  <a:srgbClr val="111111"/>
                </a:solidFill>
                <a:latin typeface="Constantia"/>
              </a:rPr>
              <a:t>Husk også temperatur.</a:t>
            </a:r>
          </a:p>
          <a:p>
            <a:pPr algn="l">
              <a:lnSpc>
                <a:spcPct val="125000"/>
              </a:lnSpc>
              <a:spcAft>
                <a:spcPts val="500"/>
              </a:spcAft>
            </a:pPr>
            <a:r>
              <a:rPr sz="1200" b="0" i="0">
                <a:solidFill>
                  <a:srgbClr val="111111"/>
                </a:solidFill>
                <a:latin typeface="Constantia"/>
              </a:rPr>
              <a:t>Små kattunger blir raskere kalde enn voksne katter.</a:t>
            </a:r>
          </a:p>
          <a:p>
            <a:pPr algn="l">
              <a:lnSpc>
                <a:spcPct val="125000"/>
              </a:lnSpc>
              <a:spcAft>
                <a:spcPts val="500"/>
              </a:spcAft>
            </a:pPr>
            <a:r>
              <a:rPr sz="1200" b="0" i="0">
                <a:solidFill>
                  <a:srgbClr val="111111"/>
                </a:solidFill>
                <a:latin typeface="Constantia"/>
              </a:rPr>
              <a:t>Søvn er en del av læringen</a:t>
            </a:r>
          </a:p>
          <a:p>
            <a:pPr algn="l">
              <a:lnSpc>
                <a:spcPct val="125000"/>
              </a:lnSpc>
              <a:spcAft>
                <a:spcPts val="500"/>
              </a:spcAft>
            </a:pPr>
            <a:r>
              <a:rPr sz="1200" b="0" i="0">
                <a:solidFill>
                  <a:srgbClr val="111111"/>
                </a:solidFill>
                <a:latin typeface="Constantia"/>
              </a:rPr>
              <a:t>Kattungens hverdag skal ikke fylles med konstant aktivitet. Nye opplevelser krever bearbeiding. Etter trening, lek eller miljøtrening trenger kattungen ro og søvn.</a:t>
            </a:r>
          </a:p>
          <a:p>
            <a:pPr algn="l">
              <a:lnSpc>
                <a:spcPct val="125000"/>
              </a:lnSpc>
              <a:spcAft>
                <a:spcPts val="500"/>
              </a:spcAft>
            </a:pPr>
            <a:r>
              <a:rPr sz="1200" b="0" i="0">
                <a:solidFill>
                  <a:srgbClr val="111111"/>
                </a:solidFill>
                <a:latin typeface="Constantia"/>
              </a:rPr>
              <a:t>Når kattungen hviler, lagres mye av det den har opplevd og lært. Derfor er hvile minst like viktig som sosialisering.</a:t>
            </a:r>
          </a:p>
          <a:p>
            <a:pPr algn="l">
              <a:lnSpc>
                <a:spcPct val="125000"/>
              </a:lnSpc>
              <a:spcAft>
                <a:spcPts val="500"/>
              </a:spcAft>
            </a:pPr>
            <a:r>
              <a:rPr sz="1200" b="0" i="0">
                <a:solidFill>
                  <a:srgbClr val="111111"/>
                </a:solidFill>
                <a:latin typeface="Constantia"/>
              </a:rPr>
              <a:t>La alltid kattungen få sove uforstyrret.</a:t>
            </a:r>
          </a:p>
          <a:p>
            <a:pPr algn="l">
              <a:lnSpc>
                <a:spcPct val="125000"/>
              </a:lnSpc>
              <a:spcAft>
                <a:spcPts val="500"/>
              </a:spcAft>
            </a:pPr>
            <a:r>
              <a:rPr sz="1200" b="0" i="0">
                <a:solidFill>
                  <a:srgbClr val="111111"/>
                </a:solidFill>
                <a:latin typeface="Constantia"/>
              </a:rPr>
              <a:t>Fra liten tiger til trygg voksen</a:t>
            </a:r>
          </a:p>
          <a:p>
            <a:pPr algn="l">
              <a:lnSpc>
                <a:spcPct val="125000"/>
              </a:lnSpc>
              <a:spcAft>
                <a:spcPts val="500"/>
              </a:spcAft>
            </a:pPr>
            <a:r>
              <a:rPr sz="1200" b="0" i="0">
                <a:solidFill>
                  <a:srgbClr val="111111"/>
                </a:solidFill>
                <a:latin typeface="Constantia"/>
              </a:rPr>
              <a:t>En sibirkatt utvikler seg over lang tid. Den lille kattungen som klatrer i sofaen i dag, blir etter hvert en stor og sterk katt med tydelig personlighet.</a:t>
            </a:r>
          </a:p>
          <a:p>
            <a:pPr algn="l">
              <a:lnSpc>
                <a:spcPct val="125000"/>
              </a:lnSpc>
              <a:spcAft>
                <a:spcPts val="500"/>
              </a:spcAft>
            </a:pPr>
            <a:r>
              <a:rPr sz="1200" b="0" i="0">
                <a:solidFill>
                  <a:srgbClr val="111111"/>
                </a:solidFill>
                <a:latin typeface="Constantia"/>
              </a:rPr>
              <a:t>Trygg håndtering, gode rutiner, rolige opplevelser og positive møter med mennesker gjør overgangen til voksenlivet enklere – både for katten og familien.</a:t>
            </a:r>
          </a:p>
          <a:p>
            <a:pPr algn="l">
              <a:lnSpc>
                <a:spcPct val="125000"/>
              </a:lnSpc>
              <a:spcAft>
                <a:spcPts val="500"/>
              </a:spcAft>
            </a:pPr>
            <a:r>
              <a:rPr sz="1200" b="0" i="0">
                <a:solidFill>
                  <a:srgbClr val="111111"/>
                </a:solidFill>
                <a:latin typeface="Constantia"/>
              </a:rPr>
              <a:t>Målet er ikke en perfekt katt, men en trygg katt. Og nettopp trygghet er ofte det som kjennetegner de mest harmoniske sibirkattene.</a:t>
            </a:r>
          </a:p>
          <a:p>
            <a:pPr algn="l">
              <a:lnSpc>
                <a:spcPct val="125000"/>
              </a:lnSpc>
              <a:spcAft>
                <a:spcPts val="500"/>
              </a:spcAft>
            </a:pPr>
            <a:r>
              <a:rPr sz="1200" b="0" i="0">
                <a:solidFill>
                  <a:srgbClr val="111111"/>
                </a:solidFill>
                <a:latin typeface="Constantia"/>
              </a:rPr>
              <a:t>Sosialisering og valg av oppdretter – nøkkelen til en trygg sibirkatt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Når man kjøper sibirkatt, handler valget om langt mer enn stamtavle, farge eller utseende. De første ukene hos oppdretter former kattungens syn på mennesker, miljø og nye opplevelser. En god start kan gi en trygg, sosial og harmonisk katt – mens mangelfull sosialisering kan sette spor lenge.</a:t>
            </a:r>
          </a:p>
          <a:p>
            <a:pPr algn="l">
              <a:lnSpc>
                <a:spcPct val="125000"/>
              </a:lnSpc>
              <a:spcAft>
                <a:spcPts val="500"/>
              </a:spcAft>
            </a:pPr>
            <a:r>
              <a:rPr sz="1200" b="0" i="0">
                <a:solidFill>
                  <a:srgbClr val="111111"/>
                </a:solidFill>
                <a:latin typeface="Constantia"/>
              </a:rPr>
              <a:t>For en rase som sibirkatt, kjent for sitt sosiale og familieorienterte temperament, er dette ekstra viktig.</a:t>
            </a:r>
          </a:p>
          <a:p>
            <a:pPr algn="l">
              <a:lnSpc>
                <a:spcPct val="125000"/>
              </a:lnSpc>
              <a:spcAft>
                <a:spcPts val="500"/>
              </a:spcAft>
            </a:pPr>
            <a:r>
              <a:rPr sz="1200" b="0" i="0">
                <a:solidFill>
                  <a:srgbClr val="111111"/>
                </a:solidFill>
                <a:latin typeface="Constantia"/>
              </a:rPr>
              <a:t>Hva betyr egentlig sosialisering?</a:t>
            </a:r>
          </a:p>
          <a:p>
            <a:pPr algn="l">
              <a:lnSpc>
                <a:spcPct val="125000"/>
              </a:lnSpc>
              <a:spcAft>
                <a:spcPts val="500"/>
              </a:spcAft>
            </a:pPr>
            <a:r>
              <a:rPr sz="1200" b="0" i="0">
                <a:solidFill>
                  <a:srgbClr val="111111"/>
                </a:solidFill>
                <a:latin typeface="Constantia"/>
              </a:rPr>
              <a:t>Sosialisering handler om at kattungen gradvis lærer at mennesker, lyder, håndtering og hverdagsliv er trygt.</a:t>
            </a:r>
          </a:p>
          <a:p>
            <a:pPr algn="l">
              <a:lnSpc>
                <a:spcPct val="125000"/>
              </a:lnSpc>
              <a:spcAft>
                <a:spcPts val="500"/>
              </a:spcAft>
            </a:pPr>
            <a:r>
              <a:rPr sz="1200" b="0" i="0">
                <a:solidFill>
                  <a:srgbClr val="111111"/>
                </a:solidFill>
                <a:latin typeface="Constantia"/>
              </a:rPr>
              <a:t>De viktigste ukene er tidlig i kattungens liv. Kattungen bør møte:</a:t>
            </a:r>
          </a:p>
          <a:p>
            <a:pPr algn="l">
              <a:lnSpc>
                <a:spcPct val="125000"/>
              </a:lnSpc>
              <a:spcAft>
                <a:spcPts val="500"/>
              </a:spcAft>
            </a:pPr>
            <a:r>
              <a:rPr sz="1200" b="0" i="0">
                <a:solidFill>
                  <a:srgbClr val="111111"/>
                </a:solidFill>
                <a:latin typeface="Constantia"/>
              </a:rPr>
              <a:t>ulike mennesker</a:t>
            </a:r>
          </a:p>
          <a:p>
            <a:pPr algn="l">
              <a:lnSpc>
                <a:spcPct val="125000"/>
              </a:lnSpc>
              <a:spcAft>
                <a:spcPts val="500"/>
              </a:spcAft>
            </a:pPr>
            <a:r>
              <a:rPr sz="1200" b="0" i="0">
                <a:solidFill>
                  <a:srgbClr val="111111"/>
                </a:solidFill>
                <a:latin typeface="Constantia"/>
              </a:rPr>
              <a:t>vanlige lyder i hjemmet</a:t>
            </a:r>
          </a:p>
          <a:p>
            <a:pPr algn="l">
              <a:lnSpc>
                <a:spcPct val="125000"/>
              </a:lnSpc>
              <a:spcAft>
                <a:spcPts val="500"/>
              </a:spcAft>
            </a:pPr>
            <a:r>
              <a:rPr sz="1200" b="0" i="0">
                <a:solidFill>
                  <a:srgbClr val="111111"/>
                </a:solidFill>
                <a:latin typeface="Constantia"/>
              </a:rPr>
              <a:t>forsiktig håndtering</a:t>
            </a:r>
          </a:p>
          <a:p>
            <a:pPr algn="l">
              <a:lnSpc>
                <a:spcPct val="125000"/>
              </a:lnSpc>
              <a:spcAft>
                <a:spcPts val="500"/>
              </a:spcAft>
            </a:pPr>
            <a:r>
              <a:rPr sz="1200" b="0" i="0">
                <a:solidFill>
                  <a:srgbClr val="111111"/>
                </a:solidFill>
                <a:latin typeface="Constantia"/>
              </a:rPr>
              <a:t>lek og aktivitet</a:t>
            </a:r>
          </a:p>
          <a:p>
            <a:pPr algn="l">
              <a:lnSpc>
                <a:spcPct val="125000"/>
              </a:lnSpc>
              <a:spcAft>
                <a:spcPts val="500"/>
              </a:spcAft>
            </a:pPr>
            <a:r>
              <a:rPr sz="1200" b="0" i="0">
                <a:solidFill>
                  <a:srgbClr val="111111"/>
                </a:solidFill>
                <a:latin typeface="Constantia"/>
              </a:rPr>
              <a:t>rolige nye opplevelser</a:t>
            </a:r>
          </a:p>
          <a:p>
            <a:pPr algn="l">
              <a:lnSpc>
                <a:spcPct val="125000"/>
              </a:lnSpc>
              <a:spcAft>
                <a:spcPts val="500"/>
              </a:spcAft>
            </a:pPr>
            <a:r>
              <a:rPr sz="1200" b="0" i="0">
                <a:solidFill>
                  <a:srgbClr val="111111"/>
                </a:solidFill>
                <a:latin typeface="Constantia"/>
              </a:rPr>
              <a:t>En godt sosialisert sibirkatt blir ofte mer trygg på besøk, veterinærbesøk, pelsstell og flytting senere i livet.</a:t>
            </a:r>
          </a:p>
          <a:p>
            <a:pPr algn="l">
              <a:lnSpc>
                <a:spcPct val="125000"/>
              </a:lnSpc>
              <a:spcAft>
                <a:spcPts val="500"/>
              </a:spcAft>
            </a:pPr>
            <a:r>
              <a:rPr sz="1200" b="0" i="0">
                <a:solidFill>
                  <a:srgbClr val="111111"/>
                </a:solidFill>
                <a:latin typeface="Constantia"/>
              </a:rPr>
              <a:t>Valg av oppdretter</a:t>
            </a:r>
          </a:p>
          <a:p>
            <a:pPr algn="l">
              <a:lnSpc>
                <a:spcPct val="125000"/>
              </a:lnSpc>
              <a:spcAft>
                <a:spcPts val="500"/>
              </a:spcAft>
            </a:pPr>
            <a:r>
              <a:rPr sz="1200" b="0" i="0">
                <a:solidFill>
                  <a:srgbClr val="111111"/>
                </a:solidFill>
                <a:latin typeface="Constantia"/>
              </a:rPr>
              <a:t>Den gode oppdretteren starter arbeidet tidlig</a:t>
            </a:r>
          </a:p>
          <a:p>
            <a:pPr algn="l">
              <a:lnSpc>
                <a:spcPct val="125000"/>
              </a:lnSpc>
              <a:spcAft>
                <a:spcPts val="500"/>
              </a:spcAft>
            </a:pPr>
            <a:r>
              <a:rPr sz="1200" b="0" i="0">
                <a:solidFill>
                  <a:srgbClr val="111111"/>
                </a:solidFill>
                <a:latin typeface="Constantia"/>
              </a:rPr>
              <a:t>En ansvarlig oppdretter bruker mye tid sammen med kattungene hver dag. Kattungene skal ikke bare få mat og stell – de skal oppleve trygg kontakt med mennesker.</a:t>
            </a:r>
          </a:p>
          <a:p>
            <a:pPr algn="l">
              <a:lnSpc>
                <a:spcPct val="125000"/>
              </a:lnSpc>
              <a:spcAft>
                <a:spcPts val="500"/>
              </a:spcAft>
            </a:pPr>
            <a:r>
              <a:rPr sz="1200" b="0" i="0">
                <a:solidFill>
                  <a:srgbClr val="111111"/>
                </a:solidFill>
                <a:latin typeface="Constantia"/>
              </a:rPr>
              <a:t>Det er positivt dersom oppdretter:</a:t>
            </a:r>
          </a:p>
          <a:p>
            <a:pPr algn="l">
              <a:lnSpc>
                <a:spcPct val="125000"/>
              </a:lnSpc>
              <a:spcAft>
                <a:spcPts val="500"/>
              </a:spcAft>
            </a:pPr>
            <a:r>
              <a:rPr sz="1200" b="0" i="0">
                <a:solidFill>
                  <a:srgbClr val="111111"/>
                </a:solidFill>
                <a:latin typeface="Constantia"/>
              </a:rPr>
              <a:t>løfter kattungene daglig</a:t>
            </a:r>
          </a:p>
          <a:p>
            <a:pPr algn="l">
              <a:lnSpc>
                <a:spcPct val="125000"/>
              </a:lnSpc>
              <a:spcAft>
                <a:spcPts val="500"/>
              </a:spcAft>
            </a:pPr>
            <a:r>
              <a:rPr sz="1200" b="0" i="0">
                <a:solidFill>
                  <a:srgbClr val="111111"/>
                </a:solidFill>
                <a:latin typeface="Constantia"/>
              </a:rPr>
              <a:t>trener på kloklipp og pelsstell</a:t>
            </a:r>
          </a:p>
          <a:p>
            <a:pPr algn="l">
              <a:lnSpc>
                <a:spcPct val="125000"/>
              </a:lnSpc>
              <a:spcAft>
                <a:spcPts val="500"/>
              </a:spcAft>
            </a:pPr>
            <a:r>
              <a:rPr sz="1200" b="0" i="0">
                <a:solidFill>
                  <a:srgbClr val="111111"/>
                </a:solidFill>
                <a:latin typeface="Constantia"/>
              </a:rPr>
              <a:t>lar kattungene oppleve normale huslyder</a:t>
            </a:r>
          </a:p>
          <a:p>
            <a:pPr algn="l">
              <a:lnSpc>
                <a:spcPct val="125000"/>
              </a:lnSpc>
              <a:spcAft>
                <a:spcPts val="500"/>
              </a:spcAft>
            </a:pPr>
            <a:r>
              <a:rPr sz="1200" b="0" i="0">
                <a:solidFill>
                  <a:srgbClr val="111111"/>
                </a:solidFill>
                <a:latin typeface="Constantia"/>
              </a:rPr>
              <a:t>introduserer lek og aktivitet</a:t>
            </a:r>
          </a:p>
          <a:p>
            <a:pPr algn="l">
              <a:lnSpc>
                <a:spcPct val="125000"/>
              </a:lnSpc>
              <a:spcAft>
                <a:spcPts val="500"/>
              </a:spcAft>
            </a:pPr>
            <a:r>
              <a:rPr sz="1200" b="0" i="0">
                <a:solidFill>
                  <a:srgbClr val="111111"/>
                </a:solidFill>
                <a:latin typeface="Constantia"/>
              </a:rPr>
              <a:t>lar kattungene møte ulike mennesker på en trygg måte</a:t>
            </a:r>
          </a:p>
          <a:p>
            <a:pPr algn="l">
              <a:lnSpc>
                <a:spcPct val="125000"/>
              </a:lnSpc>
              <a:spcAft>
                <a:spcPts val="500"/>
              </a:spcAft>
            </a:pPr>
            <a:r>
              <a:rPr sz="1200" b="0" i="0">
                <a:solidFill>
                  <a:srgbClr val="111111"/>
                </a:solidFill>
                <a:latin typeface="Constantia"/>
              </a:rPr>
              <a:t>Sibirkatter er intelligente og observante. De leser miljøet godt. Rolige og trygge erfaringer tidlig i livet gir ofte stabile voksne katter.</a:t>
            </a:r>
          </a:p>
          <a:p>
            <a:pPr algn="l">
              <a:lnSpc>
                <a:spcPct val="125000"/>
              </a:lnSpc>
              <a:spcAft>
                <a:spcPts val="500"/>
              </a:spcAft>
            </a:pPr>
            <a:r>
              <a:rPr sz="1200" b="0" i="0">
                <a:solidFill>
                  <a:srgbClr val="111111"/>
                </a:solidFill>
                <a:latin typeface="Constantia"/>
              </a:rPr>
              <a:t>Besøk oppdretteren med åpne øyne</a:t>
            </a:r>
          </a:p>
          <a:p>
            <a:pPr algn="l">
              <a:lnSpc>
                <a:spcPct val="125000"/>
              </a:lnSpc>
              <a:spcAft>
                <a:spcPts val="500"/>
              </a:spcAft>
            </a:pPr>
            <a:r>
              <a:rPr sz="1200" b="0" i="0">
                <a:solidFill>
                  <a:srgbClr val="111111"/>
                </a:solidFill>
                <a:latin typeface="Constantia"/>
              </a:rPr>
              <a:t>Når du besøker et kull, er det lett å forelske seg i den søteste kattungen først. Men bruk også tid på å observere miljøet.</a:t>
            </a:r>
          </a:p>
          <a:p>
            <a:pPr algn="l">
              <a:lnSpc>
                <a:spcPct val="125000"/>
              </a:lnSpc>
              <a:spcAft>
                <a:spcPts val="500"/>
              </a:spcAft>
            </a:pPr>
            <a:r>
              <a:rPr sz="1200" b="0" i="0">
                <a:solidFill>
                  <a:srgbClr val="111111"/>
                </a:solidFill>
                <a:latin typeface="Constantia"/>
              </a:rPr>
              <a:t>Kattungene bør være:</a:t>
            </a:r>
          </a:p>
          <a:p>
            <a:pPr algn="l">
              <a:lnSpc>
                <a:spcPct val="125000"/>
              </a:lnSpc>
              <a:spcAft>
                <a:spcPts val="500"/>
              </a:spcAft>
            </a:pPr>
            <a:r>
              <a:rPr sz="1200" b="0" i="0">
                <a:solidFill>
                  <a:srgbClr val="111111"/>
                </a:solidFill>
                <a:latin typeface="Constantia"/>
              </a:rPr>
              <a:t>nysgjerrige</a:t>
            </a:r>
          </a:p>
          <a:p>
            <a:pPr algn="l">
              <a:lnSpc>
                <a:spcPct val="125000"/>
              </a:lnSpc>
              <a:spcAft>
                <a:spcPts val="500"/>
              </a:spcAft>
            </a:pPr>
            <a:r>
              <a:rPr sz="1200" b="0" i="0">
                <a:solidFill>
                  <a:srgbClr val="111111"/>
                </a:solidFill>
                <a:latin typeface="Constantia"/>
              </a:rPr>
              <a:t>rene og velstelte</a:t>
            </a:r>
          </a:p>
          <a:p>
            <a:pPr algn="l">
              <a:lnSpc>
                <a:spcPct val="125000"/>
              </a:lnSpc>
              <a:spcAft>
                <a:spcPts val="500"/>
              </a:spcAft>
            </a:pPr>
            <a:r>
              <a:rPr sz="1200" b="0" i="0">
                <a:solidFill>
                  <a:srgbClr val="111111"/>
                </a:solidFill>
                <a:latin typeface="Constantia"/>
              </a:rPr>
              <a:t>komfortable med mennesker</a:t>
            </a:r>
          </a:p>
          <a:p>
            <a:pPr algn="l">
              <a:lnSpc>
                <a:spcPct val="125000"/>
              </a:lnSpc>
              <a:spcAft>
                <a:spcPts val="500"/>
              </a:spcAft>
            </a:pPr>
            <a:r>
              <a:rPr sz="1200" b="0" i="0">
                <a:solidFill>
                  <a:srgbClr val="111111"/>
                </a:solidFill>
                <a:latin typeface="Constantia"/>
              </a:rPr>
              <a:t>aktive og lekne når de er våkne</a:t>
            </a:r>
          </a:p>
          <a:p>
            <a:pPr algn="l">
              <a:lnSpc>
                <a:spcPct val="125000"/>
              </a:lnSpc>
              <a:spcAft>
                <a:spcPts val="500"/>
              </a:spcAft>
            </a:pPr>
            <a:r>
              <a:rPr sz="1200" b="0" i="0">
                <a:solidFill>
                  <a:srgbClr val="111111"/>
                </a:solidFill>
                <a:latin typeface="Constantia"/>
              </a:rPr>
              <a:t>Det er normalt at noen kattunger er litt forsiktige i starten, men de bør ikke virke paniske eller totalt utilgjengelige.</a:t>
            </a:r>
          </a:p>
          <a:p>
            <a:pPr algn="l">
              <a:lnSpc>
                <a:spcPct val="125000"/>
              </a:lnSpc>
              <a:spcAft>
                <a:spcPts val="500"/>
              </a:spcAft>
            </a:pPr>
            <a:r>
              <a:rPr sz="1200" b="0" i="0">
                <a:solidFill>
                  <a:srgbClr val="111111"/>
                </a:solidFill>
                <a:latin typeface="Constantia"/>
              </a:rPr>
              <a:t>Se også på moren. En trygg og sosial kattemor gir ofte kattungene et godt utgangspunkt.</a:t>
            </a:r>
          </a:p>
          <a:p>
            <a:pPr algn="l">
              <a:lnSpc>
                <a:spcPct val="125000"/>
              </a:lnSpc>
              <a:spcAft>
                <a:spcPts val="500"/>
              </a:spcAft>
            </a:pPr>
            <a:r>
              <a:rPr sz="1200" b="0" i="0">
                <a:solidFill>
                  <a:srgbClr val="111111"/>
                </a:solidFill>
                <a:latin typeface="Constantia"/>
              </a:rPr>
              <a:t>Hvordan møter oppdretteren kattungene?</a:t>
            </a:r>
          </a:p>
          <a:p>
            <a:pPr algn="l">
              <a:lnSpc>
                <a:spcPct val="125000"/>
              </a:lnSpc>
              <a:spcAft>
                <a:spcPts val="500"/>
              </a:spcAft>
            </a:pPr>
            <a:r>
              <a:rPr sz="1200" b="0" i="0">
                <a:solidFill>
                  <a:srgbClr val="111111"/>
                </a:solidFill>
                <a:latin typeface="Constantia"/>
              </a:rPr>
              <a:t>Måten oppdretteren håndterer kattene på sier mye.</a:t>
            </a:r>
          </a:p>
          <a:p>
            <a:pPr algn="l">
              <a:lnSpc>
                <a:spcPct val="125000"/>
              </a:lnSpc>
              <a:spcAft>
                <a:spcPts val="500"/>
              </a:spcAft>
            </a:pPr>
            <a:r>
              <a:rPr sz="1200" b="0" i="0">
                <a:solidFill>
                  <a:srgbClr val="111111"/>
                </a:solidFill>
                <a:latin typeface="Constantia"/>
              </a:rPr>
              <a:t>Snakker oppdretteren rolig til dem? Blir kattungene håndtert med trygghet og respekt? Får de utforske omgivelsene sine?</a:t>
            </a:r>
          </a:p>
          <a:p>
            <a:pPr algn="l">
              <a:lnSpc>
                <a:spcPct val="125000"/>
              </a:lnSpc>
              <a:spcAft>
                <a:spcPts val="500"/>
              </a:spcAft>
            </a:pPr>
            <a:r>
              <a:rPr sz="1200" b="0" i="0">
                <a:solidFill>
                  <a:srgbClr val="111111"/>
                </a:solidFill>
                <a:latin typeface="Constantia"/>
              </a:rPr>
              <a:t>Be gjerne de som bor der om å leke med kattungene, gi dem godbiter og kose med dem. Da får du et bedre inntrykk av hvordan kattungene reagerer på mennesker de kjenner godt.</a:t>
            </a:r>
          </a:p>
          <a:p>
            <a:pPr algn="l">
              <a:lnSpc>
                <a:spcPct val="125000"/>
              </a:lnSpc>
              <a:spcAft>
                <a:spcPts val="500"/>
              </a:spcAft>
            </a:pPr>
            <a:r>
              <a:rPr sz="1200" b="0" i="0">
                <a:solidFill>
                  <a:srgbClr val="111111"/>
                </a:solidFill>
                <a:latin typeface="Constantia"/>
              </a:rPr>
              <a:t>Når kattungen tydelig er avslappet, kan også du prøve forsiktig kontakt gjennom lek, kos eller en liten godbit.</a:t>
            </a:r>
          </a:p>
          <a:p>
            <a:pPr algn="l">
              <a:lnSpc>
                <a:spcPct val="125000"/>
              </a:lnSpc>
              <a:spcAft>
                <a:spcPts val="500"/>
              </a:spcAft>
            </a:pPr>
            <a:r>
              <a:rPr sz="1200" b="0" i="0">
                <a:solidFill>
                  <a:srgbClr val="111111"/>
                </a:solidFill>
                <a:latin typeface="Constantia"/>
              </a:rPr>
              <a:t>Barn og kattunger</a:t>
            </a:r>
          </a:p>
          <a:p>
            <a:pPr algn="l">
              <a:lnSpc>
                <a:spcPct val="125000"/>
              </a:lnSpc>
              <a:spcAft>
                <a:spcPts val="500"/>
              </a:spcAft>
            </a:pPr>
            <a:r>
              <a:rPr sz="1200" b="0" i="0">
                <a:solidFill>
                  <a:srgbClr val="111111"/>
                </a:solidFill>
                <a:latin typeface="Constantia"/>
              </a:rPr>
              <a:t>Sibirkatter er ofte tolerante og lekne med barn, men gode relasjoner kommer ikke av seg selv.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Forholdet mellom barn og kattunge kan bli nært og fantastisk. Samtidig må voksne alltid følge med. Barn kan bli ivrige, løpe etter kattungen eller lage mye lyd. Kattungen kan på sin side leke med klør og tenner uten å forstå egne grenser.</a:t>
            </a:r>
          </a:p>
          <a:p>
            <a:pPr algn="l">
              <a:lnSpc>
                <a:spcPct val="125000"/>
              </a:lnSpc>
              <a:spcAft>
                <a:spcPts val="500"/>
              </a:spcAft>
            </a:pPr>
            <a:r>
              <a:rPr sz="1200" b="0" i="0">
                <a:solidFill>
                  <a:srgbClr val="111111"/>
                </a:solidFill>
                <a:latin typeface="Constantia"/>
              </a:rPr>
              <a:t>Derfor bør barn lære:</a:t>
            </a:r>
          </a:p>
          <a:p>
            <a:pPr algn="l">
              <a:lnSpc>
                <a:spcPct val="125000"/>
              </a:lnSpc>
              <a:spcAft>
                <a:spcPts val="500"/>
              </a:spcAft>
            </a:pPr>
            <a:r>
              <a:rPr sz="1200" b="0" i="0">
                <a:solidFill>
                  <a:srgbClr val="111111"/>
                </a:solidFill>
                <a:latin typeface="Constantia"/>
              </a:rPr>
              <a:t>å la katten hvile i fred</a:t>
            </a:r>
          </a:p>
          <a:p>
            <a:pPr algn="l">
              <a:lnSpc>
                <a:spcPct val="125000"/>
              </a:lnSpc>
              <a:spcAft>
                <a:spcPts val="500"/>
              </a:spcAft>
            </a:pPr>
            <a:r>
              <a:rPr sz="1200" b="0" i="0">
                <a:solidFill>
                  <a:srgbClr val="111111"/>
                </a:solidFill>
                <a:latin typeface="Constantia"/>
              </a:rPr>
              <a:t>å ikke jage kattungen</a:t>
            </a:r>
          </a:p>
          <a:p>
            <a:pPr algn="l">
              <a:lnSpc>
                <a:spcPct val="125000"/>
              </a:lnSpc>
              <a:spcAft>
                <a:spcPts val="500"/>
              </a:spcAft>
            </a:pPr>
            <a:r>
              <a:rPr sz="1200" b="0" i="0">
                <a:solidFill>
                  <a:srgbClr val="111111"/>
                </a:solidFill>
                <a:latin typeface="Constantia"/>
              </a:rPr>
              <a:t>å bruke rolige bevegelser</a:t>
            </a:r>
          </a:p>
          <a:p>
            <a:pPr algn="l">
              <a:lnSpc>
                <a:spcPct val="125000"/>
              </a:lnSpc>
              <a:spcAft>
                <a:spcPts val="500"/>
              </a:spcAft>
            </a:pPr>
            <a:r>
              <a:rPr sz="1200" b="0" i="0">
                <a:solidFill>
                  <a:srgbClr val="111111"/>
                </a:solidFill>
                <a:latin typeface="Constantia"/>
              </a:rPr>
              <a:t>å respektere når katten går bort</a:t>
            </a:r>
          </a:p>
          <a:p>
            <a:pPr algn="l">
              <a:lnSpc>
                <a:spcPct val="125000"/>
              </a:lnSpc>
              <a:spcAft>
                <a:spcPts val="500"/>
              </a:spcAft>
            </a:pPr>
            <a:r>
              <a:rPr sz="1200" b="0" i="0">
                <a:solidFill>
                  <a:srgbClr val="111111"/>
                </a:solidFill>
                <a:latin typeface="Constantia"/>
              </a:rPr>
              <a:t>Ingen kattunger og små barn bør være alene uten tilsyn.</a:t>
            </a:r>
          </a:p>
          <a:p>
            <a:pPr algn="l">
              <a:lnSpc>
                <a:spcPct val="125000"/>
              </a:lnSpc>
              <a:spcAft>
                <a:spcPts val="500"/>
              </a:spcAft>
            </a:pPr>
            <a:r>
              <a:rPr sz="1200" b="0" i="0">
                <a:solidFill>
                  <a:srgbClr val="111111"/>
                </a:solidFill>
                <a:latin typeface="Constantia"/>
              </a:rPr>
              <a:t>Sosialisering fortsetter etter levering</a:t>
            </a:r>
          </a:p>
          <a:p>
            <a:pPr algn="l">
              <a:lnSpc>
                <a:spcPct val="125000"/>
              </a:lnSpc>
              <a:spcAft>
                <a:spcPts val="500"/>
              </a:spcAft>
            </a:pPr>
            <a:r>
              <a:rPr sz="1200" b="0" i="0">
                <a:solidFill>
                  <a:srgbClr val="111111"/>
                </a:solidFill>
                <a:latin typeface="Constantia"/>
              </a:rPr>
              <a:t>Selv den beste oppdretter kan ikke gjøre hele jobben alene. Når kattungen flytter til nytt hjem, begynner en ny fase.</a:t>
            </a:r>
          </a:p>
          <a:p>
            <a:pPr algn="l">
              <a:lnSpc>
                <a:spcPct val="125000"/>
              </a:lnSpc>
              <a:spcAft>
                <a:spcPts val="500"/>
              </a:spcAft>
            </a:pPr>
            <a:r>
              <a:rPr sz="1200" b="0" i="0">
                <a:solidFill>
                  <a:srgbClr val="111111"/>
                </a:solidFill>
                <a:latin typeface="Constantia"/>
              </a:rPr>
              <a:t>Den nye familien bør gradvis introdusere:</a:t>
            </a:r>
          </a:p>
          <a:p>
            <a:pPr algn="l">
              <a:lnSpc>
                <a:spcPct val="125000"/>
              </a:lnSpc>
              <a:spcAft>
                <a:spcPts val="500"/>
              </a:spcAft>
            </a:pPr>
            <a:r>
              <a:rPr sz="1200" b="0" i="0">
                <a:solidFill>
                  <a:srgbClr val="111111"/>
                </a:solidFill>
                <a:latin typeface="Constantia"/>
              </a:rPr>
              <a:t>nye rom</a:t>
            </a:r>
          </a:p>
          <a:p>
            <a:pPr algn="l">
              <a:lnSpc>
                <a:spcPct val="125000"/>
              </a:lnSpc>
              <a:spcAft>
                <a:spcPts val="500"/>
              </a:spcAft>
            </a:pPr>
            <a:r>
              <a:rPr sz="1200" b="0" i="0">
                <a:solidFill>
                  <a:srgbClr val="111111"/>
                </a:solidFill>
                <a:latin typeface="Constantia"/>
              </a:rPr>
              <a:t>ulike mennesker</a:t>
            </a:r>
          </a:p>
          <a:p>
            <a:pPr algn="l">
              <a:lnSpc>
                <a:spcPct val="125000"/>
              </a:lnSpc>
              <a:spcAft>
                <a:spcPts val="500"/>
              </a:spcAft>
            </a:pPr>
            <a:r>
              <a:rPr sz="1200" b="0" i="0">
                <a:solidFill>
                  <a:srgbClr val="111111"/>
                </a:solidFill>
                <a:latin typeface="Constantia"/>
              </a:rPr>
              <a:t>lyder og rutiner</a:t>
            </a:r>
          </a:p>
          <a:p>
            <a:pPr algn="l">
              <a:lnSpc>
                <a:spcPct val="125000"/>
              </a:lnSpc>
              <a:spcAft>
                <a:spcPts val="500"/>
              </a:spcAft>
            </a:pPr>
            <a:r>
              <a:rPr sz="1200" b="0" i="0">
                <a:solidFill>
                  <a:srgbClr val="111111"/>
                </a:solidFill>
                <a:latin typeface="Constantia"/>
              </a:rPr>
              <a:t>transportbur</a:t>
            </a:r>
          </a:p>
          <a:p>
            <a:pPr algn="l">
              <a:lnSpc>
                <a:spcPct val="125000"/>
              </a:lnSpc>
              <a:spcAft>
                <a:spcPts val="500"/>
              </a:spcAft>
            </a:pPr>
            <a:r>
              <a:rPr sz="1200" b="0" i="0">
                <a:solidFill>
                  <a:srgbClr val="111111"/>
                </a:solidFill>
                <a:latin typeface="Constantia"/>
              </a:rPr>
              <a:t>pelsstell og kloklipp</a:t>
            </a:r>
          </a:p>
          <a:p>
            <a:pPr algn="l">
              <a:lnSpc>
                <a:spcPct val="125000"/>
              </a:lnSpc>
              <a:spcAft>
                <a:spcPts val="500"/>
              </a:spcAft>
            </a:pPr>
            <a:r>
              <a:rPr sz="1200" b="0" i="0">
                <a:solidFill>
                  <a:srgbClr val="111111"/>
                </a:solidFill>
                <a:latin typeface="Constantia"/>
              </a:rPr>
              <a:t>Sibirkatter er ofte tilpasningsdyktige, men de trenger tid til å føle seg trygge.</a:t>
            </a:r>
          </a:p>
          <a:p>
            <a:pPr algn="l">
              <a:lnSpc>
                <a:spcPct val="125000"/>
              </a:lnSpc>
              <a:spcAft>
                <a:spcPts val="500"/>
              </a:spcAft>
            </a:pPr>
            <a:r>
              <a:rPr sz="1200" b="0" i="0">
                <a:solidFill>
                  <a:srgbClr val="111111"/>
                </a:solidFill>
                <a:latin typeface="Constantia"/>
              </a:rPr>
              <a:t>Tegn på en seriøs oppdretter</a:t>
            </a:r>
          </a:p>
          <a:p>
            <a:pPr algn="l">
              <a:lnSpc>
                <a:spcPct val="125000"/>
              </a:lnSpc>
              <a:spcAft>
                <a:spcPts val="500"/>
              </a:spcAft>
            </a:pPr>
            <a:r>
              <a:rPr sz="1200" b="0" i="0">
                <a:solidFill>
                  <a:srgbClr val="111111"/>
                </a:solidFill>
                <a:latin typeface="Constantia"/>
              </a:rPr>
              <a:t>En ansvarlig oppdretter er sjelden den som har mest hastverk med å selge.</a:t>
            </a:r>
          </a:p>
          <a:p>
            <a:pPr algn="l">
              <a:lnSpc>
                <a:spcPct val="125000"/>
              </a:lnSpc>
              <a:spcAft>
                <a:spcPts val="500"/>
              </a:spcAft>
            </a:pPr>
            <a:r>
              <a:rPr sz="1200" b="0" i="0">
                <a:solidFill>
                  <a:srgbClr val="111111"/>
                </a:solidFill>
                <a:latin typeface="Constantia"/>
              </a:rPr>
              <a:t>Ofte vil oppdretteren:</a:t>
            </a:r>
          </a:p>
          <a:p>
            <a:pPr algn="l">
              <a:lnSpc>
                <a:spcPct val="125000"/>
              </a:lnSpc>
              <a:spcAft>
                <a:spcPts val="500"/>
              </a:spcAft>
            </a:pPr>
            <a:r>
              <a:rPr sz="1200" b="0" i="0">
                <a:solidFill>
                  <a:srgbClr val="111111"/>
                </a:solidFill>
                <a:latin typeface="Constantia"/>
              </a:rPr>
              <a:t>stille spørsmål til kjøper</a:t>
            </a:r>
          </a:p>
          <a:p>
            <a:pPr algn="l">
              <a:lnSpc>
                <a:spcPct val="125000"/>
              </a:lnSpc>
              <a:spcAft>
                <a:spcPts val="500"/>
              </a:spcAft>
            </a:pPr>
            <a:r>
              <a:rPr sz="1200" b="0" i="0">
                <a:solidFill>
                  <a:srgbClr val="111111"/>
                </a:solidFill>
                <a:latin typeface="Constantia"/>
              </a:rPr>
              <a:t>være opptatt av kattungens framtidige hjem</a:t>
            </a:r>
          </a:p>
          <a:p>
            <a:pPr algn="l">
              <a:lnSpc>
                <a:spcPct val="125000"/>
              </a:lnSpc>
              <a:spcAft>
                <a:spcPts val="500"/>
              </a:spcAft>
            </a:pPr>
            <a:r>
              <a:rPr sz="1200" b="0" i="0">
                <a:solidFill>
                  <a:srgbClr val="111111"/>
                </a:solidFill>
                <a:latin typeface="Constantia"/>
              </a:rPr>
              <a:t>snakke ærlig om både fordeler og utfordringer ved rasen</a:t>
            </a:r>
          </a:p>
          <a:p>
            <a:pPr algn="l">
              <a:lnSpc>
                <a:spcPct val="125000"/>
              </a:lnSpc>
              <a:spcAft>
                <a:spcPts val="500"/>
              </a:spcAft>
            </a:pPr>
            <a:r>
              <a:rPr sz="1200" b="0" i="0">
                <a:solidFill>
                  <a:srgbClr val="111111"/>
                </a:solidFill>
                <a:latin typeface="Constantia"/>
              </a:rPr>
              <a:t>følge opp etter levering</a:t>
            </a:r>
          </a:p>
          <a:p>
            <a:pPr algn="l">
              <a:lnSpc>
                <a:spcPct val="125000"/>
              </a:lnSpc>
              <a:spcAft>
                <a:spcPts val="500"/>
              </a:spcAft>
            </a:pPr>
            <a:r>
              <a:rPr sz="1200" b="0" i="0">
                <a:solidFill>
                  <a:srgbClr val="111111"/>
                </a:solidFill>
                <a:latin typeface="Constantia"/>
              </a:rPr>
              <a:t>være åpen om helse og linjer</a:t>
            </a:r>
          </a:p>
          <a:p>
            <a:pPr algn="l">
              <a:lnSpc>
                <a:spcPct val="125000"/>
              </a:lnSpc>
              <a:spcAft>
                <a:spcPts val="500"/>
              </a:spcAft>
            </a:pPr>
            <a:r>
              <a:rPr sz="1200" b="0" i="0">
                <a:solidFill>
                  <a:srgbClr val="111111"/>
                </a:solidFill>
                <a:latin typeface="Constantia"/>
              </a:rPr>
              <a:t>Sibirkatten er en stor, aktiv og sosial rase som trenger nær kontakt med familien sin. En seriøs oppdretter ønsker derfor å finne hjem som passer kattens behov.</a:t>
            </a:r>
          </a:p>
          <a:p>
            <a:pPr algn="l">
              <a:lnSpc>
                <a:spcPct val="125000"/>
              </a:lnSpc>
              <a:spcAft>
                <a:spcPts val="500"/>
              </a:spcAft>
            </a:pPr>
            <a:r>
              <a:rPr sz="1200" b="0" i="0">
                <a:solidFill>
                  <a:srgbClr val="111111"/>
                </a:solidFill>
                <a:latin typeface="Constantia"/>
              </a:rPr>
              <a:t>Velg trygghet framfor impuls</a:t>
            </a:r>
          </a:p>
          <a:p>
            <a:pPr algn="l">
              <a:lnSpc>
                <a:spcPct val="125000"/>
              </a:lnSpc>
              <a:spcAft>
                <a:spcPts val="500"/>
              </a:spcAft>
            </a:pPr>
            <a:r>
              <a:rPr sz="1200" b="0" i="0">
                <a:solidFill>
                  <a:srgbClr val="111111"/>
                </a:solidFill>
                <a:latin typeface="Constantia"/>
              </a:rPr>
              <a:t>Det kan være fristende å reservere første og beste kattunge. Men valg av oppdretter er minst like viktig som valg av katt.</a:t>
            </a:r>
          </a:p>
          <a:p>
            <a:pPr algn="l">
              <a:lnSpc>
                <a:spcPct val="125000"/>
              </a:lnSpc>
              <a:spcAft>
                <a:spcPts val="500"/>
              </a:spcAft>
            </a:pPr>
            <a:r>
              <a:rPr sz="1200" b="0" i="0">
                <a:solidFill>
                  <a:srgbClr val="111111"/>
                </a:solidFill>
                <a:latin typeface="Constantia"/>
              </a:rPr>
              <a:t>En kattunge som har fått trygg sosialisering, god håndtering og rolige erfaringer fra starten av, har ofte de beste forutsetningene for å utvikle seg til den stabile og kjærlige sibirkatten mange drømmer 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648000"/>
            <a:ext cx="6120000" cy="288000"/>
          </a:xfrm>
          <a:prstGeom prst="rect">
            <a:avLst/>
          </a:prstGeom>
          <a:noFill/>
        </p:spPr>
        <p:txBody>
          <a:bodyPr wrap="square" anchor="t">
            <a:spAutoFit/>
          </a:bodyPr>
          <a:lstStyle/>
          <a:p>
            <a:pPr algn="l">
              <a:lnSpc>
                <a:spcPct val="115000"/>
              </a:lnSpc>
              <a:spcAft>
                <a:spcPts val="500"/>
              </a:spcAft>
            </a:pPr>
            <a:r>
              <a:rPr sz="1100" b="1" i="0">
                <a:solidFill>
                  <a:srgbClr val="6E6E6E"/>
                </a:solidFill>
                <a:latin typeface="Arial"/>
              </a:rPr>
              <a:t>BILDER</a:t>
            </a:r>
          </a:p>
        </p:txBody>
      </p:sp>
      <p:pic>
        <p:nvPicPr>
          <p:cNvPr id="3" name="Picture 2" descr="2665013cc3b6f19c.jpg"/>
          <p:cNvPicPr>
            <a:picLocks noChangeAspect="1"/>
          </p:cNvPicPr>
          <p:nvPr/>
        </p:nvPicPr>
        <p:blipFill>
          <a:blip r:embed="rId2"/>
          <a:stretch>
            <a:fillRect/>
          </a:stretch>
        </p:blipFill>
        <p:spPr>
          <a:xfrm>
            <a:off x="720000" y="1152000"/>
            <a:ext cx="2952000" cy="2160000"/>
          </a:xfrm>
          <a:prstGeom prst="rect">
            <a:avLst/>
          </a:prstGeom>
        </p:spPr>
      </p:pic>
      <p:pic>
        <p:nvPicPr>
          <p:cNvPr id="4" name="Picture 3" descr="bc5588508984ddce.jpg"/>
          <p:cNvPicPr>
            <a:picLocks noChangeAspect="1"/>
          </p:cNvPicPr>
          <p:nvPr/>
        </p:nvPicPr>
        <p:blipFill>
          <a:blip r:embed="rId3"/>
          <a:stretch>
            <a:fillRect/>
          </a:stretch>
        </p:blipFill>
        <p:spPr>
          <a:xfrm>
            <a:off x="3888000" y="1152000"/>
            <a:ext cx="2952000" cy="2160000"/>
          </a:xfrm>
          <a:prstGeom prst="rect">
            <a:avLst/>
          </a:prstGeom>
        </p:spPr>
      </p:pic>
      <p:pic>
        <p:nvPicPr>
          <p:cNvPr id="5" name="Picture 4" descr="0510ac03267f837c.jpg"/>
          <p:cNvPicPr>
            <a:picLocks noChangeAspect="1"/>
          </p:cNvPicPr>
          <p:nvPr/>
        </p:nvPicPr>
        <p:blipFill>
          <a:blip r:embed="rId4"/>
          <a:stretch>
            <a:fillRect/>
          </a:stretch>
        </p:blipFill>
        <p:spPr>
          <a:xfrm>
            <a:off x="720000" y="3528000"/>
            <a:ext cx="2952000" cy="2160000"/>
          </a:xfrm>
          <a:prstGeom prst="rect">
            <a:avLst/>
          </a:prstGeom>
        </p:spPr>
      </p:pic>
      <p:pic>
        <p:nvPicPr>
          <p:cNvPr id="6" name="Picture 5" descr="d52604d81180334e.jpg"/>
          <p:cNvPicPr>
            <a:picLocks noChangeAspect="1"/>
          </p:cNvPicPr>
          <p:nvPr/>
        </p:nvPicPr>
        <p:blipFill>
          <a:blip r:embed="rId5"/>
          <a:stretch>
            <a:fillRect/>
          </a:stretch>
        </p:blipFill>
        <p:spPr>
          <a:xfrm>
            <a:off x="3888000" y="3528000"/>
            <a:ext cx="2952000" cy="2160000"/>
          </a:xfrm>
          <a:prstGeom prst="rect">
            <a:avLst/>
          </a:prstGeom>
        </p:spPr>
      </p:pic>
      <p:pic>
        <p:nvPicPr>
          <p:cNvPr id="7" name="Picture 6" descr="0b6c4fd25db1a39c.jpg"/>
          <p:cNvPicPr>
            <a:picLocks noChangeAspect="1"/>
          </p:cNvPicPr>
          <p:nvPr/>
        </p:nvPicPr>
        <p:blipFill>
          <a:blip r:embed="rId6"/>
          <a:stretch>
            <a:fillRect/>
          </a:stretch>
        </p:blipFill>
        <p:spPr>
          <a:xfrm>
            <a:off x="720000" y="5904000"/>
            <a:ext cx="2952000" cy="2160000"/>
          </a:xfrm>
          <a:prstGeom prst="rect">
            <a:avLst/>
          </a:prstGeom>
        </p:spPr>
      </p:pic>
      <p:pic>
        <p:nvPicPr>
          <p:cNvPr id="8" name="Picture 7" descr="1edc6514028f1aea.jpg"/>
          <p:cNvPicPr>
            <a:picLocks noChangeAspect="1"/>
          </p:cNvPicPr>
          <p:nvPr/>
        </p:nvPicPr>
        <p:blipFill>
          <a:blip r:embed="rId7"/>
          <a:stretch>
            <a:fillRect/>
          </a:stretch>
        </p:blipFill>
        <p:spPr>
          <a:xfrm>
            <a:off x="3888000" y="5904000"/>
            <a:ext cx="2952000" cy="2160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648000"/>
            <a:ext cx="6120000" cy="288000"/>
          </a:xfrm>
          <a:prstGeom prst="rect">
            <a:avLst/>
          </a:prstGeom>
          <a:noFill/>
        </p:spPr>
        <p:txBody>
          <a:bodyPr wrap="square" anchor="t">
            <a:spAutoFit/>
          </a:bodyPr>
          <a:lstStyle/>
          <a:p>
            <a:pPr algn="l">
              <a:lnSpc>
                <a:spcPct val="115000"/>
              </a:lnSpc>
              <a:spcAft>
                <a:spcPts val="500"/>
              </a:spcAft>
            </a:pPr>
            <a:r>
              <a:rPr sz="1100" b="1" i="0">
                <a:solidFill>
                  <a:srgbClr val="6E6E6E"/>
                </a:solidFill>
                <a:latin typeface="Arial"/>
              </a:rPr>
              <a:t>BILDER</a:t>
            </a:r>
          </a:p>
        </p:txBody>
      </p:sp>
      <p:pic>
        <p:nvPicPr>
          <p:cNvPr id="3" name="Picture 2" descr="bab00dc88178b3b7.jpg"/>
          <p:cNvPicPr>
            <a:picLocks noChangeAspect="1"/>
          </p:cNvPicPr>
          <p:nvPr/>
        </p:nvPicPr>
        <p:blipFill>
          <a:blip r:embed="rId2"/>
          <a:stretch>
            <a:fillRect/>
          </a:stretch>
        </p:blipFill>
        <p:spPr>
          <a:xfrm>
            <a:off x="720000" y="1152000"/>
            <a:ext cx="2952000" cy="2160000"/>
          </a:xfrm>
          <a:prstGeom prst="rect">
            <a:avLst/>
          </a:prstGeom>
        </p:spPr>
      </p:pic>
      <p:pic>
        <p:nvPicPr>
          <p:cNvPr id="4" name="Picture 3" descr="39089db2b4bc3e8f.jpg"/>
          <p:cNvPicPr>
            <a:picLocks noChangeAspect="1"/>
          </p:cNvPicPr>
          <p:nvPr/>
        </p:nvPicPr>
        <p:blipFill>
          <a:blip r:embed="rId3"/>
          <a:stretch>
            <a:fillRect/>
          </a:stretch>
        </p:blipFill>
        <p:spPr>
          <a:xfrm>
            <a:off x="3888000" y="1152000"/>
            <a:ext cx="2952000" cy="2160000"/>
          </a:xfrm>
          <a:prstGeom prst="rect">
            <a:avLst/>
          </a:prstGeom>
        </p:spPr>
      </p:pic>
      <p:pic>
        <p:nvPicPr>
          <p:cNvPr id="5" name="Picture 4" descr="69833dd76f09dbc0.jpg"/>
          <p:cNvPicPr>
            <a:picLocks noChangeAspect="1"/>
          </p:cNvPicPr>
          <p:nvPr/>
        </p:nvPicPr>
        <p:blipFill>
          <a:blip r:embed="rId4"/>
          <a:stretch>
            <a:fillRect/>
          </a:stretch>
        </p:blipFill>
        <p:spPr>
          <a:xfrm>
            <a:off x="720000" y="3528000"/>
            <a:ext cx="2952000" cy="2160000"/>
          </a:xfrm>
          <a:prstGeom prst="rect">
            <a:avLst/>
          </a:prstGeom>
        </p:spPr>
      </p:pic>
      <p:pic>
        <p:nvPicPr>
          <p:cNvPr id="6" name="Picture 5" descr="f54d132fbb4d223a.jpg"/>
          <p:cNvPicPr>
            <a:picLocks noChangeAspect="1"/>
          </p:cNvPicPr>
          <p:nvPr/>
        </p:nvPicPr>
        <p:blipFill>
          <a:blip r:embed="rId5"/>
          <a:stretch>
            <a:fillRect/>
          </a:stretch>
        </p:blipFill>
        <p:spPr>
          <a:xfrm>
            <a:off x="3888000" y="3528000"/>
            <a:ext cx="2952000" cy="2160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1592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1592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Familie</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Barn og sibirkatt</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En tålmodig familiekatt – og noen enkle regler som gjør samværet trygt for alle.</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REDAKSJONEN   ·   UTKAST</a:t>
            </a:r>
          </a:p>
        </p:txBody>
      </p:sp>
      <p:sp>
        <p:nvSpPr>
          <p:cNvPr id="7" name="Rectangle 6"/>
          <p:cNvSpPr/>
          <p:nvPr/>
        </p:nvSpPr>
        <p:spPr>
          <a:xfrm>
            <a:off x="720000" y="3420000"/>
            <a:ext cx="6120000" cy="5400000"/>
          </a:xfrm>
          <a:prstGeom prst="rect">
            <a:avLst/>
          </a:prstGeom>
          <a:solidFill>
            <a:srgbClr val="F4F2EF"/>
          </a:solidFill>
          <a:ln w="63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5904000"/>
            <a:ext cx="6120000" cy="432000"/>
          </a:xfrm>
          <a:prstGeom prst="rect">
            <a:avLst/>
          </a:prstGeom>
          <a:noFill/>
        </p:spPr>
        <p:txBody>
          <a:bodyPr wrap="square" anchor="ctr">
            <a:spAutoFit/>
          </a:bodyPr>
          <a:lstStyle/>
          <a:p>
            <a:pPr algn="ctr">
              <a:lnSpc>
                <a:spcPct val="115000"/>
              </a:lnSpc>
              <a:spcAft>
                <a:spcPts val="500"/>
              </a:spcAft>
            </a:pPr>
            <a:r>
              <a:rPr sz="1000" b="0" i="0">
                <a:solidFill>
                  <a:srgbClr val="6E6E6E"/>
                </a:solidFill>
                <a:latin typeface="Arial"/>
              </a:rPr>
              <a:t>FOTO · 3:2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Barn og sibirkatt</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Sibirkatten er sosial, tålmodig og robust – egenskaper som gjør den til en fin familiekatt. Et godt forhold mellom barn og katt kommer likevel ikke av seg selv. Det bygges på respekt, rolige rammer og litt voksen tilrettelegging.</a:t>
            </a:r>
          </a:p>
          <a:p>
            <a:pPr algn="l">
              <a:lnSpc>
                <a:spcPct val="125000"/>
              </a:lnSpc>
              <a:spcAft>
                <a:spcPts val="500"/>
              </a:spcAft>
            </a:pPr>
            <a:r>
              <a:rPr sz="1200" b="0" i="0">
                <a:solidFill>
                  <a:srgbClr val="111111"/>
                </a:solidFill>
                <a:latin typeface="Constantia"/>
              </a:rPr>
              <a:t>Lær barna kattens språk</a:t>
            </a:r>
          </a:p>
          <a:p>
            <a:pPr algn="l">
              <a:lnSpc>
                <a:spcPct val="125000"/>
              </a:lnSpc>
              <a:spcAft>
                <a:spcPts val="500"/>
              </a:spcAft>
            </a:pPr>
            <a:r>
              <a:rPr sz="1200" b="0" i="0">
                <a:solidFill>
                  <a:srgbClr val="111111"/>
                </a:solidFill>
                <a:latin typeface="Constantia"/>
              </a:rPr>
              <a:t>Katter snakker med kroppen. Hjelp barna å lese de tydelige signalene: en katt som pisker med halen, legger ørene bakover eller trekker seg unna, vil ha ro. Det viktigste barna kan lære, er at katten selv skal få bestemme når den vil være med.</a:t>
            </a:r>
          </a:p>
          <a:p>
            <a:pPr algn="l">
              <a:lnSpc>
                <a:spcPct val="125000"/>
              </a:lnSpc>
              <a:spcAft>
                <a:spcPts val="500"/>
              </a:spcAft>
            </a:pPr>
            <a:r>
              <a:rPr sz="1200" b="0" i="0">
                <a:solidFill>
                  <a:srgbClr val="111111"/>
                </a:solidFill>
                <a:latin typeface="Constantia"/>
              </a:rPr>
              <a:t>Derfor bør barn lære:</a:t>
            </a:r>
          </a:p>
          <a:p>
            <a:pPr algn="l">
              <a:lnSpc>
                <a:spcPct val="125000"/>
              </a:lnSpc>
              <a:spcAft>
                <a:spcPts val="500"/>
              </a:spcAft>
            </a:pPr>
            <a:r>
              <a:rPr sz="1200" b="0" i="0">
                <a:solidFill>
                  <a:srgbClr val="111111"/>
                </a:solidFill>
                <a:latin typeface="Constantia"/>
              </a:rPr>
              <a:t>å la katten hvile i fred</a:t>
            </a:r>
          </a:p>
          <a:p>
            <a:pPr algn="l">
              <a:lnSpc>
                <a:spcPct val="125000"/>
              </a:lnSpc>
              <a:spcAft>
                <a:spcPts val="500"/>
              </a:spcAft>
            </a:pPr>
            <a:r>
              <a:rPr sz="1200" b="0" i="0">
                <a:solidFill>
                  <a:srgbClr val="111111"/>
                </a:solidFill>
                <a:latin typeface="Constantia"/>
              </a:rPr>
              <a:t>å ikke jage eller løfte katten opp</a:t>
            </a:r>
          </a:p>
          <a:p>
            <a:pPr algn="l">
              <a:lnSpc>
                <a:spcPct val="125000"/>
              </a:lnSpc>
              <a:spcAft>
                <a:spcPts val="500"/>
              </a:spcAft>
            </a:pPr>
            <a:r>
              <a:rPr sz="1200" b="0" i="0">
                <a:solidFill>
                  <a:srgbClr val="111111"/>
                </a:solidFill>
                <a:latin typeface="Constantia"/>
              </a:rPr>
              <a:t>å bruke rolige bevegelser og stemmer</a:t>
            </a:r>
          </a:p>
          <a:p>
            <a:pPr algn="l">
              <a:lnSpc>
                <a:spcPct val="125000"/>
              </a:lnSpc>
              <a:spcAft>
                <a:spcPts val="500"/>
              </a:spcAft>
            </a:pPr>
            <a:r>
              <a:rPr sz="1200" b="0" i="0">
                <a:solidFill>
                  <a:srgbClr val="111111"/>
                </a:solidFill>
                <a:latin typeface="Constantia"/>
              </a:rPr>
              <a:t>å respektere når katten går sin vei</a:t>
            </a:r>
          </a:p>
          <a:p>
            <a:pPr algn="l">
              <a:lnSpc>
                <a:spcPct val="125000"/>
              </a:lnSpc>
              <a:spcAft>
                <a:spcPts val="500"/>
              </a:spcAft>
            </a:pPr>
            <a:r>
              <a:rPr sz="1200" b="0" i="0">
                <a:solidFill>
                  <a:srgbClr val="111111"/>
                </a:solidFill>
                <a:latin typeface="Constantia"/>
              </a:rPr>
              <a:t>Trygge soner</a:t>
            </a:r>
          </a:p>
          <a:p>
            <a:pPr algn="l">
              <a:lnSpc>
                <a:spcPct val="125000"/>
              </a:lnSpc>
              <a:spcAft>
                <a:spcPts val="500"/>
              </a:spcAft>
            </a:pPr>
            <a:r>
              <a:rPr sz="1200" b="0" i="0">
                <a:solidFill>
                  <a:srgbClr val="111111"/>
                </a:solidFill>
                <a:latin typeface="Constantia"/>
              </a:rPr>
              <a:t>Sørg for at katten har steder den kan trekke seg tilbake til uten å bli forstyrret – en hylle i høyden, en seng eller et rom barna vet de skal la den være i fred på. En katt som vet at den alltid kan komme seg unna, blir tryggere og mer sosial.</a:t>
            </a:r>
          </a:p>
          <a:p>
            <a:pPr algn="l">
              <a:lnSpc>
                <a:spcPct val="125000"/>
              </a:lnSpc>
              <a:spcAft>
                <a:spcPts val="500"/>
              </a:spcAft>
            </a:pPr>
            <a:r>
              <a:rPr sz="1200" b="0" i="0">
                <a:solidFill>
                  <a:srgbClr val="111111"/>
                </a:solidFill>
                <a:latin typeface="Constantia"/>
              </a:rPr>
              <a:t>Aldri uten tilsyn</a:t>
            </a:r>
          </a:p>
          <a:p>
            <a:pPr algn="l">
              <a:lnSpc>
                <a:spcPct val="125000"/>
              </a:lnSpc>
              <a:spcAft>
                <a:spcPts val="500"/>
              </a:spcAft>
            </a:pPr>
            <a:r>
              <a:rPr sz="1200" b="0" i="0">
                <a:solidFill>
                  <a:srgbClr val="111111"/>
                </a:solidFill>
                <a:latin typeface="Constantia"/>
              </a:rPr>
              <a:t>Helt små barn og katter bør aldri være alene sammen. Et lite barn forstår ennå ikke kattens grenser, og selv den mest tålmodige katt kan ta igjen om den blir klemt eller jaget. Med en voksen til stede blir møtene gode for begge.</a:t>
            </a:r>
          </a:p>
          <a:p>
            <a:pPr algn="l">
              <a:lnSpc>
                <a:spcPct val="125000"/>
              </a:lnSpc>
              <a:spcAft>
                <a:spcPts val="500"/>
              </a:spcAft>
            </a:pPr>
            <a:r>
              <a:rPr sz="1200" b="0" i="0">
                <a:solidFill>
                  <a:srgbClr val="111111"/>
                </a:solidFill>
                <a:latin typeface="Constantia"/>
              </a:rPr>
              <a:t>La barna bidra</a:t>
            </a:r>
          </a:p>
          <a:p>
            <a:pPr algn="l">
              <a:lnSpc>
                <a:spcPct val="125000"/>
              </a:lnSpc>
              <a:spcAft>
                <a:spcPts val="500"/>
              </a:spcAft>
            </a:pPr>
            <a:r>
              <a:rPr sz="1200" b="0" i="0">
                <a:solidFill>
                  <a:srgbClr val="111111"/>
                </a:solidFill>
                <a:latin typeface="Constantia"/>
              </a:rPr>
              <a:t>Når barna er gamle nok, kan de få være med på stell og lek – fylle vann, børste forsiktig eller trene enkle triks med klikker. Å ha ansvar for et dyr lærer barn både omsorg og tålmodighet, og kattungen blir samtidig vant til hyggelig håndtering.</a:t>
            </a:r>
          </a:p>
          <a:p>
            <a:pPr algn="l">
              <a:lnSpc>
                <a:spcPct val="125000"/>
              </a:lnSpc>
              <a:spcAft>
                <a:spcPts val="500"/>
              </a:spcAft>
            </a:pPr>
            <a:r>
              <a:rPr sz="1200" b="0" i="0">
                <a:solidFill>
                  <a:srgbClr val="111111"/>
                </a:solidFill>
                <a:latin typeface="Constantia"/>
              </a:rPr>
              <a:t>Mange opplever dessuten at sibirkatten passer ekstra godt i familier som må være forsiktige med allergi; du kan lese mer om dette i artikkelen om testhjemformidlingen.</a:t>
            </a:r>
          </a:p>
          <a:p>
            <a:pPr algn="l">
              <a:lnSpc>
                <a:spcPct val="125000"/>
              </a:lnSpc>
              <a:spcAft>
                <a:spcPts val="500"/>
              </a:spcAft>
            </a:pPr>
            <a:r>
              <a:rPr sz="1200" b="0" i="0">
                <a:solidFill>
                  <a:srgbClr val="111111"/>
                </a:solidFill>
                <a:latin typeface="Constantia"/>
              </a:rPr>
              <a:t>En sibirkatt som vokser opp med trygge, rolige barn, blir ofte en omgjengelig og tillitsfull voksenkatt – og et ekte familiemedlem.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3464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3464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Pelsstell</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Pelsstell gjennom året</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Den tredelte pelsen er lettere å stelle enn mange tror – når du kjenner årshjulet.</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REDAKSJONEN   ·   UTKAST</a:t>
            </a:r>
          </a:p>
        </p:txBody>
      </p:sp>
      <p:sp>
        <p:nvSpPr>
          <p:cNvPr id="7" name="Rectangle 6"/>
          <p:cNvSpPr/>
          <p:nvPr/>
        </p:nvSpPr>
        <p:spPr>
          <a:xfrm>
            <a:off x="720000" y="3420000"/>
            <a:ext cx="6120000" cy="5400000"/>
          </a:xfrm>
          <a:prstGeom prst="rect">
            <a:avLst/>
          </a:prstGeom>
          <a:solidFill>
            <a:srgbClr val="F4F2EF"/>
          </a:solidFill>
          <a:ln w="63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5904000"/>
            <a:ext cx="6120000" cy="432000"/>
          </a:xfrm>
          <a:prstGeom prst="rect">
            <a:avLst/>
          </a:prstGeom>
          <a:noFill/>
        </p:spPr>
        <p:txBody>
          <a:bodyPr wrap="square" anchor="ctr">
            <a:spAutoFit/>
          </a:bodyPr>
          <a:lstStyle/>
          <a:p>
            <a:pPr algn="ctr">
              <a:lnSpc>
                <a:spcPct val="115000"/>
              </a:lnSpc>
              <a:spcAft>
                <a:spcPts val="500"/>
              </a:spcAft>
            </a:pPr>
            <a:r>
              <a:rPr sz="1000" b="0" i="0">
                <a:solidFill>
                  <a:srgbClr val="6E6E6E"/>
                </a:solidFill>
                <a:latin typeface="Arial"/>
              </a:rPr>
              <a:t>FOTO · 3:2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Pelsstell gjennom året</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Sibirkattens pels er et av rasens fineste kjennetegn – og en av de tingene nye eiere lurer mest på. Den gode nyheten er at den tredelte pelsen er overraskende lettstelt når man kjenner årshjulet.</a:t>
            </a:r>
          </a:p>
          <a:p>
            <a:pPr algn="l">
              <a:lnSpc>
                <a:spcPct val="125000"/>
              </a:lnSpc>
              <a:spcAft>
                <a:spcPts val="500"/>
              </a:spcAft>
            </a:pPr>
            <a:r>
              <a:rPr sz="1200" b="0" i="0">
                <a:solidFill>
                  <a:srgbClr val="111111"/>
                </a:solidFill>
                <a:latin typeface="Constantia"/>
              </a:rPr>
              <a:t>En pels i tre lag</a:t>
            </a:r>
          </a:p>
          <a:p>
            <a:pPr algn="l">
              <a:lnSpc>
                <a:spcPct val="125000"/>
              </a:lnSpc>
              <a:spcAft>
                <a:spcPts val="500"/>
              </a:spcAft>
            </a:pPr>
            <a:r>
              <a:rPr sz="1200" b="0" i="0">
                <a:solidFill>
                  <a:srgbClr val="111111"/>
                </a:solidFill>
                <a:latin typeface="Constantia"/>
              </a:rPr>
              <a:t>Sibirkatten har en tett underull, et mellomlag og kraftigere, vannavstøtende dekkhår. Sammen holder de katten varm og tørr – egenskaper den har med seg fra det sibirske klimaet. Pelsen er altså bygget for vær og vind, ikke for å floke seg, og mange sibirkatter klarer seg med relativt lite stell sammenlignet med andre langhårsraser.</a:t>
            </a:r>
          </a:p>
          <a:p>
            <a:pPr algn="l">
              <a:lnSpc>
                <a:spcPct val="125000"/>
              </a:lnSpc>
              <a:spcAft>
                <a:spcPts val="500"/>
              </a:spcAft>
            </a:pPr>
            <a:r>
              <a:rPr sz="1200" b="0" i="0">
                <a:solidFill>
                  <a:srgbClr val="111111"/>
                </a:solidFill>
                <a:latin typeface="Constantia"/>
              </a:rPr>
              <a:t>Vinterpels og sommerpels</a:t>
            </a:r>
          </a:p>
          <a:p>
            <a:pPr algn="l">
              <a:lnSpc>
                <a:spcPct val="125000"/>
              </a:lnSpc>
              <a:spcAft>
                <a:spcPts val="500"/>
              </a:spcAft>
            </a:pPr>
            <a:r>
              <a:rPr sz="1200" b="0" i="0">
                <a:solidFill>
                  <a:srgbClr val="111111"/>
                </a:solidFill>
                <a:latin typeface="Constantia"/>
              </a:rPr>
              <a:t>Pelsen skifter med årstidene. Om vinteren er den fyldig, med tydelig krage og «bukser». Om våren feller katten mye av underullen og får en lettere sommerpels. Det er i fellingsperiodene – særlig vår og høst – at pelsen trenger mest hjelp fra deg.</a:t>
            </a:r>
          </a:p>
          <a:p>
            <a:pPr algn="l">
              <a:lnSpc>
                <a:spcPct val="125000"/>
              </a:lnSpc>
              <a:spcAft>
                <a:spcPts val="500"/>
              </a:spcAft>
            </a:pPr>
            <a:r>
              <a:rPr sz="1200" b="0" i="0">
                <a:solidFill>
                  <a:srgbClr val="111111"/>
                </a:solidFill>
                <a:latin typeface="Constantia"/>
              </a:rPr>
              <a:t>Slik børster du</a:t>
            </a:r>
          </a:p>
          <a:p>
            <a:pPr algn="l">
              <a:lnSpc>
                <a:spcPct val="125000"/>
              </a:lnSpc>
              <a:spcAft>
                <a:spcPts val="500"/>
              </a:spcAft>
            </a:pPr>
            <a:r>
              <a:rPr sz="1200" b="0" i="0">
                <a:solidFill>
                  <a:srgbClr val="111111"/>
                </a:solidFill>
                <a:latin typeface="Constantia"/>
              </a:rPr>
              <a:t>Bruk en grov kam eller en børste som når ned i underullen. I rolige perioder holder det å børste én gang i uka. I fellingen bør du børste oftere, gjerne hver eller annenhver dag, for å få ut løs underull før den floker seg. Vær ekstra nøye der floker oppstår lettest:</a:t>
            </a:r>
          </a:p>
          <a:p>
            <a:pPr algn="l">
              <a:lnSpc>
                <a:spcPct val="125000"/>
              </a:lnSpc>
              <a:spcAft>
                <a:spcPts val="500"/>
              </a:spcAft>
            </a:pPr>
            <a:r>
              <a:rPr sz="1200" b="0" i="0">
                <a:solidFill>
                  <a:srgbClr val="111111"/>
                </a:solidFill>
                <a:latin typeface="Constantia"/>
              </a:rPr>
              <a:t>bak ørene</a:t>
            </a:r>
          </a:p>
          <a:p>
            <a:pPr algn="l">
              <a:lnSpc>
                <a:spcPct val="125000"/>
              </a:lnSpc>
              <a:spcAft>
                <a:spcPts val="500"/>
              </a:spcAft>
            </a:pPr>
            <a:r>
              <a:rPr sz="1200" b="0" i="0">
                <a:solidFill>
                  <a:srgbClr val="111111"/>
                </a:solidFill>
                <a:latin typeface="Constantia"/>
              </a:rPr>
              <a:t>i armhulene</a:t>
            </a:r>
          </a:p>
          <a:p>
            <a:pPr algn="l">
              <a:lnSpc>
                <a:spcPct val="125000"/>
              </a:lnSpc>
              <a:spcAft>
                <a:spcPts val="500"/>
              </a:spcAft>
            </a:pPr>
            <a:r>
              <a:rPr sz="1200" b="0" i="0">
                <a:solidFill>
                  <a:srgbClr val="111111"/>
                </a:solidFill>
                <a:latin typeface="Constantia"/>
              </a:rPr>
              <a:t>på innsiden av lårene</a:t>
            </a:r>
          </a:p>
          <a:p>
            <a:pPr algn="l">
              <a:lnSpc>
                <a:spcPct val="125000"/>
              </a:lnSpc>
              <a:spcAft>
                <a:spcPts val="500"/>
              </a:spcAft>
            </a:pPr>
            <a:r>
              <a:rPr sz="1200" b="0" i="0">
                <a:solidFill>
                  <a:srgbClr val="111111"/>
                </a:solidFill>
                <a:latin typeface="Constantia"/>
              </a:rPr>
              <a:t>rundt kragen og «buksene»</a:t>
            </a:r>
          </a:p>
          <a:p>
            <a:pPr algn="l">
              <a:lnSpc>
                <a:spcPct val="125000"/>
              </a:lnSpc>
              <a:spcAft>
                <a:spcPts val="500"/>
              </a:spcAft>
            </a:pPr>
            <a:r>
              <a:rPr sz="1200" b="0" i="0">
                <a:solidFill>
                  <a:srgbClr val="111111"/>
                </a:solidFill>
                <a:latin typeface="Constantia"/>
              </a:rPr>
              <a:t>Gjør stellet til en hyggestund med ro og godbiter, så blir det noe katten ser fram til i stedet for å vegre seg mot.</a:t>
            </a:r>
          </a:p>
          <a:p>
            <a:pPr algn="l">
              <a:lnSpc>
                <a:spcPct val="125000"/>
              </a:lnSpc>
              <a:spcAft>
                <a:spcPts val="500"/>
              </a:spcAft>
            </a:pPr>
            <a:r>
              <a:rPr sz="1200" b="0" i="0">
                <a:solidFill>
                  <a:srgbClr val="111111"/>
                </a:solidFill>
                <a:latin typeface="Constantia"/>
              </a:rPr>
              <a:t>Floker, bad og klør</a:t>
            </a:r>
          </a:p>
          <a:p>
            <a:pPr algn="l">
              <a:lnSpc>
                <a:spcPct val="125000"/>
              </a:lnSpc>
              <a:spcAft>
                <a:spcPts val="500"/>
              </a:spcAft>
            </a:pPr>
            <a:r>
              <a:rPr sz="1200" b="0" i="0">
                <a:solidFill>
                  <a:srgbClr val="111111"/>
                </a:solidFill>
                <a:latin typeface="Constantia"/>
              </a:rPr>
              <a:t>Oppstår det floker, løs dem forsiktig opp med fingrene eller en flokekam – ikke dra. De fleste sibirkatter trenger sjelden bad, men en sjelden gang kan det være aktuelt, for eksempel etter saltvann. Å klippe klør og se over poter hører også med til det jevnlige stellet; se artikkelen «Kattunge til voksen» for hvordan du venner katten til dette tidlig.</a:t>
            </a:r>
          </a:p>
          <a:p>
            <a:pPr algn="l">
              <a:lnSpc>
                <a:spcPct val="125000"/>
              </a:lnSpc>
              <a:spcAft>
                <a:spcPts val="500"/>
              </a:spcAft>
            </a:pPr>
            <a:r>
              <a:rPr sz="1200" b="0" i="0">
                <a:solidFill>
                  <a:srgbClr val="111111"/>
                </a:solidFill>
                <a:latin typeface="Constantia"/>
              </a:rPr>
              <a:t>En velstelt sibirkatt er ikke bare vakker – det er også et tegn på en frisk og trygg katt.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3464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3464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Aktivitet</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Klikkertrening — mental trim for en smart katt</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Sibirkatten er smart og lærevillig. Klikkertrening er mental trim begge koser seg med.</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REDAKSJONEN   ·   UTKAST</a:t>
            </a:r>
          </a:p>
        </p:txBody>
      </p:sp>
      <p:sp>
        <p:nvSpPr>
          <p:cNvPr id="7" name="Rectangle 6"/>
          <p:cNvSpPr/>
          <p:nvPr/>
        </p:nvSpPr>
        <p:spPr>
          <a:xfrm>
            <a:off x="720000" y="3420000"/>
            <a:ext cx="6120000" cy="5400000"/>
          </a:xfrm>
          <a:prstGeom prst="rect">
            <a:avLst/>
          </a:prstGeom>
          <a:solidFill>
            <a:srgbClr val="F4F2EF"/>
          </a:solidFill>
          <a:ln w="63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5904000"/>
            <a:ext cx="6120000" cy="432000"/>
          </a:xfrm>
          <a:prstGeom prst="rect">
            <a:avLst/>
          </a:prstGeom>
          <a:noFill/>
        </p:spPr>
        <p:txBody>
          <a:bodyPr wrap="square" anchor="ctr">
            <a:spAutoFit/>
          </a:bodyPr>
          <a:lstStyle/>
          <a:p>
            <a:pPr algn="ctr">
              <a:lnSpc>
                <a:spcPct val="115000"/>
              </a:lnSpc>
              <a:spcAft>
                <a:spcPts val="500"/>
              </a:spcAft>
            </a:pPr>
            <a:r>
              <a:rPr sz="1000" b="0" i="0">
                <a:solidFill>
                  <a:srgbClr val="6E6E6E"/>
                </a:solidFill>
                <a:latin typeface="Arial"/>
              </a:rPr>
              <a:t>FOTO · 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Klikkertrening — mental trim for en smart katt</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Sibirkatten er kjent for å være intelligent, nysgjerrig og nærmest «hundelignende». Nettopp derfor trives mange sibirkatter med å lære triks og oppgaver. Klikkertrening er en enkel og kattevennlig måte å gjøre det på – og en fin aktivitet som styrker båndet mellom dere.</a:t>
            </a:r>
          </a:p>
          <a:p>
            <a:pPr algn="l">
              <a:lnSpc>
                <a:spcPct val="125000"/>
              </a:lnSpc>
              <a:spcAft>
                <a:spcPts val="500"/>
              </a:spcAft>
            </a:pPr>
            <a:r>
              <a:rPr sz="1200" b="0" i="0">
                <a:solidFill>
                  <a:srgbClr val="111111"/>
                </a:solidFill>
                <a:latin typeface="Constantia"/>
              </a:rPr>
              <a:t>Hva klikkertrening er</a:t>
            </a:r>
          </a:p>
          <a:p>
            <a:pPr algn="l">
              <a:lnSpc>
                <a:spcPct val="125000"/>
              </a:lnSpc>
              <a:spcAft>
                <a:spcPts val="500"/>
              </a:spcAft>
            </a:pPr>
            <a:r>
              <a:rPr sz="1200" b="0" i="0">
                <a:solidFill>
                  <a:srgbClr val="111111"/>
                </a:solidFill>
                <a:latin typeface="Constantia"/>
              </a:rPr>
              <a:t>Klikkertrening bygger på positiv forsterkning. Du bruker en liten «klikker» (eller et fast ord) til å markere det nøyaktige øyeblikket katten gjør noe riktig, og følger straks opp med en godbit. Klikket blir et tydelig «ja!» som katten raskt lærer å forstå.</a:t>
            </a:r>
          </a:p>
          <a:p>
            <a:pPr algn="l">
              <a:lnSpc>
                <a:spcPct val="125000"/>
              </a:lnSpc>
              <a:spcAft>
                <a:spcPts val="500"/>
              </a:spcAft>
            </a:pPr>
            <a:r>
              <a:rPr sz="1200" b="0" i="0">
                <a:solidFill>
                  <a:srgbClr val="111111"/>
                </a:solidFill>
                <a:latin typeface="Constantia"/>
              </a:rPr>
              <a:t>Slik kommer du i gang</a:t>
            </a:r>
          </a:p>
          <a:p>
            <a:pPr algn="l">
              <a:lnSpc>
                <a:spcPct val="125000"/>
              </a:lnSpc>
              <a:spcAft>
                <a:spcPts val="500"/>
              </a:spcAft>
            </a:pPr>
            <a:r>
              <a:rPr sz="1200" b="0" i="0">
                <a:solidFill>
                  <a:srgbClr val="111111"/>
                </a:solidFill>
                <a:latin typeface="Constantia"/>
              </a:rPr>
              <a:t>Begynn med å «lade» klikkeren: klikk og gi en godbit noen ganger, helt uten krav, til katten skjønner at klikk betyr belønning. Deretter kan du forme enkel atferd. Hold øktene korte – ett til to minutter av gangen – og avslutt mens katten fortsatt har lyst på mer.</a:t>
            </a:r>
          </a:p>
          <a:p>
            <a:pPr algn="l">
              <a:lnSpc>
                <a:spcPct val="125000"/>
              </a:lnSpc>
              <a:spcAft>
                <a:spcPts val="500"/>
              </a:spcAft>
            </a:pPr>
            <a:r>
              <a:rPr sz="1200" b="0" i="0">
                <a:solidFill>
                  <a:srgbClr val="111111"/>
                </a:solidFill>
                <a:latin typeface="Constantia"/>
              </a:rPr>
              <a:t>Gode første øvelser:</a:t>
            </a:r>
          </a:p>
          <a:p>
            <a:pPr algn="l">
              <a:lnSpc>
                <a:spcPct val="125000"/>
              </a:lnSpc>
              <a:spcAft>
                <a:spcPts val="500"/>
              </a:spcAft>
            </a:pPr>
            <a:r>
              <a:rPr sz="1200" b="0" i="0">
                <a:solidFill>
                  <a:srgbClr val="111111"/>
                </a:solidFill>
                <a:latin typeface="Constantia"/>
              </a:rPr>
              <a:t>følge en målepinne med nesen</a:t>
            </a:r>
          </a:p>
          <a:p>
            <a:pPr algn="l">
              <a:lnSpc>
                <a:spcPct val="125000"/>
              </a:lnSpc>
              <a:spcAft>
                <a:spcPts val="500"/>
              </a:spcAft>
            </a:pPr>
            <a:r>
              <a:rPr sz="1200" b="0" i="0">
                <a:solidFill>
                  <a:srgbClr val="111111"/>
                </a:solidFill>
                <a:latin typeface="Constantia"/>
              </a:rPr>
              <a:t>sette seg på signal</a:t>
            </a:r>
          </a:p>
          <a:p>
            <a:pPr algn="l">
              <a:lnSpc>
                <a:spcPct val="125000"/>
              </a:lnSpc>
              <a:spcAft>
                <a:spcPts val="500"/>
              </a:spcAft>
            </a:pPr>
            <a:r>
              <a:rPr sz="1200" b="0" i="0">
                <a:solidFill>
                  <a:srgbClr val="111111"/>
                </a:solidFill>
                <a:latin typeface="Constantia"/>
              </a:rPr>
              <a:t>komme når du kaller</a:t>
            </a:r>
          </a:p>
          <a:p>
            <a:pPr algn="l">
              <a:lnSpc>
                <a:spcPct val="125000"/>
              </a:lnSpc>
              <a:spcAft>
                <a:spcPts val="500"/>
              </a:spcAft>
            </a:pPr>
            <a:r>
              <a:rPr sz="1200" b="0" i="0">
                <a:solidFill>
                  <a:srgbClr val="111111"/>
                </a:solidFill>
                <a:latin typeface="Constantia"/>
              </a:rPr>
              <a:t>gå villig inn i transportbur</a:t>
            </a:r>
          </a:p>
          <a:p>
            <a:pPr algn="l">
              <a:lnSpc>
                <a:spcPct val="125000"/>
              </a:lnSpc>
              <a:spcAft>
                <a:spcPts val="500"/>
              </a:spcAft>
            </a:pPr>
            <a:r>
              <a:rPr sz="1200" b="0" i="0">
                <a:solidFill>
                  <a:srgbClr val="111111"/>
                </a:solidFill>
                <a:latin typeface="Constantia"/>
              </a:rPr>
              <a:t>godta sele og bånd</a:t>
            </a:r>
          </a:p>
          <a:p>
            <a:pPr algn="l">
              <a:lnSpc>
                <a:spcPct val="125000"/>
              </a:lnSpc>
              <a:spcAft>
                <a:spcPts val="500"/>
              </a:spcAft>
            </a:pPr>
            <a:r>
              <a:rPr sz="1200" b="0" i="0">
                <a:solidFill>
                  <a:srgbClr val="111111"/>
                </a:solidFill>
                <a:latin typeface="Constantia"/>
              </a:rPr>
              <a:t>Hvorfor det er nyttig</a:t>
            </a:r>
          </a:p>
          <a:p>
            <a:pPr algn="l">
              <a:lnSpc>
                <a:spcPct val="125000"/>
              </a:lnSpc>
              <a:spcAft>
                <a:spcPts val="500"/>
              </a:spcAft>
            </a:pPr>
            <a:r>
              <a:rPr sz="1200" b="0" i="0">
                <a:solidFill>
                  <a:srgbClr val="111111"/>
                </a:solidFill>
                <a:latin typeface="Constantia"/>
              </a:rPr>
              <a:t>Trening er ikke bare moro. En sibirkatt som får brukt hodet, blir mindre frustrert og finner sjeldnere på egne «prosjekter» i gardiner og på kjøkkenbenker. Klikkertrening gjør også hverdagslige ting – veterinærbesøk, pelsstell og reiser – tryggere, fordi katten har lært at samarbeid lønner seg.</a:t>
            </a:r>
          </a:p>
          <a:p>
            <a:pPr algn="l">
              <a:lnSpc>
                <a:spcPct val="125000"/>
              </a:lnSpc>
              <a:spcAft>
                <a:spcPts val="500"/>
              </a:spcAft>
            </a:pPr>
            <a:r>
              <a:rPr sz="1200" b="0" i="0">
                <a:solidFill>
                  <a:srgbClr val="111111"/>
                </a:solidFill>
                <a:latin typeface="Constantia"/>
              </a:rPr>
              <a:t>Husk at hver katt har sitt tempo. Belønn rikelig, hold det positivt, og la katten få lov til å si nei. Da blir treningen noe begge gleder seg til.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2528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2528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Portrett</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Eventyrpusen Pucifer</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Født til eventyr: 80 netter i året i seilbåt, eget pass, og et smil som varmer hver dag.</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TEKST — INGER SIV OMBUDSTVEDT</a:t>
            </a:r>
          </a:p>
        </p:txBody>
      </p:sp>
      <p:pic>
        <p:nvPicPr>
          <p:cNvPr id="7" name="Picture 6" descr="2a689b00b3e12826.jpg"/>
          <p:cNvPicPr>
            <a:picLocks noChangeAspect="1"/>
          </p:cNvPicPr>
          <p:nvPr/>
        </p:nvPicPr>
        <p:blipFill>
          <a:blip r:embed="rId2"/>
          <a:stretch>
            <a:fillRect/>
          </a:stretch>
        </p:blipFill>
        <p:spPr>
          <a:xfrm>
            <a:off x="720000" y="3420000"/>
            <a:ext cx="6120000" cy="5400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Eventyrpusen Pucifer</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Pucifer er født 4. November 2018 og gir oss en enorm glede hver dag - med sitt blide fjes. Det ser ut som om han smiler til livet. Han fant seg godt til rette hos oss allerede fra dag en.</a:t>
            </a:r>
          </a:p>
          <a:p>
            <a:pPr algn="l">
              <a:lnSpc>
                <a:spcPct val="125000"/>
              </a:lnSpc>
              <a:spcAft>
                <a:spcPts val="500"/>
              </a:spcAft>
            </a:pPr>
            <a:r>
              <a:rPr sz="1200" b="0" i="0">
                <a:solidFill>
                  <a:srgbClr val="111111"/>
                </a:solidFill>
                <a:latin typeface="Constantia"/>
              </a:rPr>
              <a:t>Pucifer er med på det aller meste:</a:t>
            </a:r>
          </a:p>
          <a:p>
            <a:pPr algn="l">
              <a:lnSpc>
                <a:spcPct val="125000"/>
              </a:lnSpc>
              <a:spcAft>
                <a:spcPts val="500"/>
              </a:spcAft>
            </a:pPr>
            <a:r>
              <a:rPr sz="1200" b="0" i="0">
                <a:solidFill>
                  <a:srgbClr val="111111"/>
                </a:solidFill>
                <a:latin typeface="Constantia"/>
              </a:rPr>
              <a:t>Han elsker spesielt godt livet på sjøen i seilbåt - og har om lag 80 overnattinger i året i båt både innenlands og utenlands. Han har selvfølgelig sitt eget pass.</a:t>
            </a:r>
          </a:p>
          <a:p>
            <a:pPr algn="l">
              <a:lnSpc>
                <a:spcPct val="125000"/>
              </a:lnSpc>
              <a:spcAft>
                <a:spcPts val="500"/>
              </a:spcAft>
            </a:pPr>
            <a:r>
              <a:rPr sz="1200" b="0" i="0">
                <a:solidFill>
                  <a:srgbClr val="111111"/>
                </a:solidFill>
                <a:latin typeface="Constantia"/>
              </a:rPr>
              <a:t>Han har ikke blitt våt i luggen en gang da han har svømt i sjøen (han har nemlig falt ut i sjøen et par ganger da vi har ligget til kai eller for anker).</a:t>
            </a:r>
          </a:p>
          <a:p>
            <a:pPr algn="l">
              <a:lnSpc>
                <a:spcPct val="125000"/>
              </a:lnSpc>
              <a:spcAft>
                <a:spcPts val="500"/>
              </a:spcAft>
            </a:pPr>
            <a:r>
              <a:rPr sz="1200" b="0" i="0">
                <a:solidFill>
                  <a:srgbClr val="111111"/>
                </a:solidFill>
                <a:latin typeface="Constantia"/>
              </a:rPr>
              <a:t>Pucifer møter jevnlig Chewbacca på sjøen. Han en omplasseringskatt fra samme oppdretter som Pucifer. Chewbacca har fått et meget godt liv og er med i sin families seilbåt.</a:t>
            </a:r>
          </a:p>
          <a:p>
            <a:pPr algn="l">
              <a:lnSpc>
                <a:spcPct val="125000"/>
              </a:lnSpc>
              <a:spcAft>
                <a:spcPts val="500"/>
              </a:spcAft>
            </a:pPr>
            <a:r>
              <a:rPr sz="1200" b="0" i="0">
                <a:solidFill>
                  <a:srgbClr val="111111"/>
                </a:solidFill>
                <a:latin typeface="Constantia"/>
              </a:rPr>
              <a:t>Pucifer sitter også gjerne på i en kajakk eller gummibåt. Han bader i en bøtte eller dusjer om han har fått saltvann i pelsen - eller om det har gått galt i pelsbuksene.</a:t>
            </a:r>
          </a:p>
          <a:p>
            <a:pPr algn="l">
              <a:lnSpc>
                <a:spcPct val="125000"/>
              </a:lnSpc>
              <a:spcAft>
                <a:spcPts val="500"/>
              </a:spcAft>
            </a:pPr>
            <a:r>
              <a:rPr sz="1200" b="0" i="0">
                <a:solidFill>
                  <a:srgbClr val="111111"/>
                </a:solidFill>
                <a:latin typeface="Constantia"/>
              </a:rPr>
              <a:t>Pucifer liker også godt å være med på biltur. Allerede andre dagen vi hadde ham, kjørte vi rundt på måfå slik at han vendte seg til både bur og bil. Han maler ofte i buret når vi er på biltur. Han kan også sitte direkte på bilsetet med en sele koblet til sikkerhetsbeltet.</a:t>
            </a:r>
          </a:p>
          <a:p>
            <a:pPr algn="l">
              <a:lnSpc>
                <a:spcPct val="125000"/>
              </a:lnSpc>
              <a:spcAft>
                <a:spcPts val="500"/>
              </a:spcAft>
            </a:pPr>
            <a:r>
              <a:rPr sz="1200" b="0" i="0">
                <a:solidFill>
                  <a:srgbClr val="111111"/>
                </a:solidFill>
                <a:latin typeface="Constantia"/>
              </a:rPr>
              <a:t>Pucifer er gjerne med på hotell -eller hytteturer. På vinteren har han på seg en liten islender hvis det er kaldt på fjelltur.</a:t>
            </a:r>
          </a:p>
          <a:p>
            <a:pPr algn="l">
              <a:lnSpc>
                <a:spcPct val="125000"/>
              </a:lnSpc>
              <a:spcAft>
                <a:spcPts val="500"/>
              </a:spcAft>
            </a:pPr>
            <a:r>
              <a:rPr sz="1200" b="0" i="0">
                <a:solidFill>
                  <a:srgbClr val="111111"/>
                </a:solidFill>
                <a:latin typeface="Constantia"/>
              </a:rPr>
              <a:t>Pucifer har ofte vært med på besøk på sykehjem - til glede for både beboere og ansatte. Da pynter han seg gjerne med tversoversløyfen sin.</a:t>
            </a:r>
          </a:p>
          <a:p>
            <a:pPr algn="l">
              <a:lnSpc>
                <a:spcPct val="125000"/>
              </a:lnSpc>
              <a:spcAft>
                <a:spcPts val="500"/>
              </a:spcAft>
            </a:pPr>
            <a:r>
              <a:rPr sz="1200" b="0" i="0">
                <a:solidFill>
                  <a:srgbClr val="111111"/>
                </a:solidFill>
                <a:latin typeface="Constantia"/>
              </a:rPr>
              <a:t>Han luftes daglig i sele &amp; bånd.</a:t>
            </a:r>
          </a:p>
          <a:p>
            <a:pPr algn="l">
              <a:lnSpc>
                <a:spcPct val="125000"/>
              </a:lnSpc>
              <a:spcAft>
                <a:spcPts val="500"/>
              </a:spcAft>
            </a:pPr>
            <a:r>
              <a:rPr sz="1200" b="0" i="0">
                <a:solidFill>
                  <a:srgbClr val="111111"/>
                </a:solidFill>
                <a:latin typeface="Constantia"/>
              </a:rPr>
              <a:t>Årsaken til at han ikke går løs er fordi vi er livredde for at det skal skje noe med den «gullgutten». Når vi går tur i skogen kan han gå løs fordi han definitivt følger oss som er flokken hans. Da kan han også sitte litt i eller på sekken sin - om turen blir lang. Når det ikke er sesong for fugleunger lar vi ham gå løs på øyer som vi besøker med båten. Mus fanger han og det liker ikke vi så godt. Spesielt ikke når han bringer de om bord i båten.</a:t>
            </a:r>
          </a:p>
          <a:p>
            <a:pPr algn="l">
              <a:lnSpc>
                <a:spcPct val="125000"/>
              </a:lnSpc>
              <a:spcAft>
                <a:spcPts val="500"/>
              </a:spcAft>
            </a:pPr>
            <a:r>
              <a:rPr sz="1200" b="0" i="0">
                <a:solidFill>
                  <a:srgbClr val="111111"/>
                </a:solidFill>
                <a:latin typeface="Constantia"/>
              </a:rPr>
              <a:t>Ca senest hvert 20 minutt kommer han innom båten får å hilse på. Hvis vi vil ha tak i ham tidligere - roper vi bare på ham. Pucifer lyder navnet sitt godt.</a:t>
            </a:r>
          </a:p>
          <a:p>
            <a:pPr algn="l">
              <a:lnSpc>
                <a:spcPct val="125000"/>
              </a:lnSpc>
              <a:spcAft>
                <a:spcPts val="500"/>
              </a:spcAft>
            </a:pPr>
            <a:r>
              <a:rPr sz="1200" b="0" i="0">
                <a:solidFill>
                  <a:srgbClr val="111111"/>
                </a:solidFill>
                <a:latin typeface="Constantia"/>
              </a:rPr>
              <a:t>Pucifer elsker reker, blåskjell &amp; krabber som han ofte får servert i helger og definitivt på bursdagen sin.</a:t>
            </a:r>
          </a:p>
          <a:p>
            <a:pPr algn="l">
              <a:lnSpc>
                <a:spcPct val="125000"/>
              </a:lnSpc>
              <a:spcAft>
                <a:spcPts val="500"/>
              </a:spcAft>
            </a:pPr>
            <a:r>
              <a:rPr sz="1200" b="0" i="0">
                <a:solidFill>
                  <a:srgbClr val="111111"/>
                </a:solidFill>
                <a:latin typeface="Constantia"/>
              </a:rPr>
              <a:t>Hver dag får han kokt torsk til middag.</a:t>
            </a:r>
          </a:p>
          <a:p>
            <a:pPr algn="l">
              <a:lnSpc>
                <a:spcPct val="125000"/>
              </a:lnSpc>
              <a:spcAft>
                <a:spcPts val="500"/>
              </a:spcAft>
            </a:pPr>
            <a:r>
              <a:rPr sz="1200" b="0" i="0">
                <a:solidFill>
                  <a:srgbClr val="111111"/>
                </a:solidFill>
                <a:latin typeface="Constantia"/>
              </a:rPr>
              <a:t>Pucifer har den samme døgnrytmen som oss. Ved 23 tiden går han og legger seg - og sover til morgenen. Gjerne i vår seng.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Jeg forter meg alltid hjem fra jobben for å komme hjem til Pucifer. Han kommer «flyvende» ned trappen når han hører oss utenfor.  Når jeg må ha en veldig lang arbeidsdag - får han selskap av min 80 år gamle nabo. Da kommer hun innom ham to-tre ganger i løpet av dagen. De prater, børster, leker og koser seg - og Pucifer får servert godis.</a:t>
            </a:r>
          </a:p>
          <a:p>
            <a:pPr algn="l">
              <a:lnSpc>
                <a:spcPct val="125000"/>
              </a:lnSpc>
              <a:spcAft>
                <a:spcPts val="500"/>
              </a:spcAft>
            </a:pPr>
            <a:r>
              <a:rPr sz="1200" b="0" i="0">
                <a:solidFill>
                  <a:srgbClr val="111111"/>
                </a:solidFill>
                <a:latin typeface="Constantia"/>
              </a:rPr>
              <a:t>Pucifer elsker å bli børstet. Noe som medfører at ikke har hatt en eneste floke i pelsen. Pelsen legger vi ut til fuglene på våren slik at de kan bygge myke reder med deilig kattepels.</a:t>
            </a:r>
          </a:p>
          <a:p>
            <a:pPr algn="l">
              <a:lnSpc>
                <a:spcPct val="125000"/>
              </a:lnSpc>
              <a:spcAft>
                <a:spcPts val="500"/>
              </a:spcAft>
            </a:pPr>
            <a:r>
              <a:rPr sz="1200" b="0" i="0">
                <a:solidFill>
                  <a:srgbClr val="111111"/>
                </a:solidFill>
                <a:latin typeface="Constantia"/>
              </a:rPr>
              <a:t>Som en kollega har uttalt: du har jo det meste i den katten! Det er aldeles helt riktig! Og i mitt neste liv vil jeg bli katt!</a:t>
            </a:r>
          </a:p>
          <a:p>
            <a:pPr algn="l">
              <a:lnSpc>
                <a:spcPct val="125000"/>
              </a:lnSpc>
              <a:spcAft>
                <a:spcPts val="500"/>
              </a:spcAft>
            </a:pPr>
            <a:r>
              <a:rPr sz="1200" b="0" i="0">
                <a:solidFill>
                  <a:srgbClr val="111111"/>
                </a:solidFill>
                <a:latin typeface="Constantia"/>
              </a:rPr>
              <a:t>Følg gjerne Pucifer på Instagram: sibirkatten.pucifer</a:t>
            </a:r>
          </a:p>
          <a:p>
            <a:pPr algn="l">
              <a:lnSpc>
                <a:spcPct val="125000"/>
              </a:lnSpc>
              <a:spcAft>
                <a:spcPts val="500"/>
              </a:spcAft>
            </a:pPr>
            <a:r>
              <a:rPr sz="1200" b="0" i="0">
                <a:solidFill>
                  <a:srgbClr val="111111"/>
                </a:solidFill>
                <a:latin typeface="Constantia"/>
              </a:rPr>
              <a:t>Med vennlig hilsen stolt sibirkatteeier,</a:t>
            </a:r>
          </a:p>
          <a:p>
            <a:pPr algn="l">
              <a:lnSpc>
                <a:spcPct val="125000"/>
              </a:lnSpc>
              <a:spcAft>
                <a:spcPts val="500"/>
              </a:spcAft>
            </a:pPr>
            <a:r>
              <a:rPr sz="1200" b="0" i="0">
                <a:solidFill>
                  <a:srgbClr val="111111"/>
                </a:solidFill>
                <a:latin typeface="Constantia"/>
              </a:rPr>
              <a:t>Inger Siv Ombudstvedt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648000"/>
            <a:ext cx="6120000" cy="288000"/>
          </a:xfrm>
          <a:prstGeom prst="rect">
            <a:avLst/>
          </a:prstGeom>
          <a:noFill/>
        </p:spPr>
        <p:txBody>
          <a:bodyPr wrap="square" anchor="t">
            <a:spAutoFit/>
          </a:bodyPr>
          <a:lstStyle/>
          <a:p>
            <a:pPr algn="l">
              <a:lnSpc>
                <a:spcPct val="115000"/>
              </a:lnSpc>
              <a:spcAft>
                <a:spcPts val="500"/>
              </a:spcAft>
            </a:pPr>
            <a:r>
              <a:rPr sz="1100" b="1" i="0">
                <a:solidFill>
                  <a:srgbClr val="6E6E6E"/>
                </a:solidFill>
                <a:latin typeface="Arial"/>
              </a:rPr>
              <a:t>BILDER</a:t>
            </a:r>
          </a:p>
        </p:txBody>
      </p:sp>
      <p:pic>
        <p:nvPicPr>
          <p:cNvPr id="3" name="Picture 2" descr="03d49b002694d259.jpg"/>
          <p:cNvPicPr>
            <a:picLocks noChangeAspect="1"/>
          </p:cNvPicPr>
          <p:nvPr/>
        </p:nvPicPr>
        <p:blipFill>
          <a:blip r:embed="rId2"/>
          <a:stretch>
            <a:fillRect/>
          </a:stretch>
        </p:blipFill>
        <p:spPr>
          <a:xfrm>
            <a:off x="720000" y="1152000"/>
            <a:ext cx="2952000" cy="2160000"/>
          </a:xfrm>
          <a:prstGeom prst="rect">
            <a:avLst/>
          </a:prstGeom>
        </p:spPr>
      </p:pic>
      <p:pic>
        <p:nvPicPr>
          <p:cNvPr id="4" name="Picture 3" descr="277822922a201b3b.jpg"/>
          <p:cNvPicPr>
            <a:picLocks noChangeAspect="1"/>
          </p:cNvPicPr>
          <p:nvPr/>
        </p:nvPicPr>
        <p:blipFill>
          <a:blip r:embed="rId3"/>
          <a:stretch>
            <a:fillRect/>
          </a:stretch>
        </p:blipFill>
        <p:spPr>
          <a:xfrm>
            <a:off x="3888000" y="1152000"/>
            <a:ext cx="2952000" cy="2160000"/>
          </a:xfrm>
          <a:prstGeom prst="rect">
            <a:avLst/>
          </a:prstGeom>
        </p:spPr>
      </p:pic>
      <p:pic>
        <p:nvPicPr>
          <p:cNvPr id="5" name="Picture 4" descr="54f1400fae9c9367.jpg"/>
          <p:cNvPicPr>
            <a:picLocks noChangeAspect="1"/>
          </p:cNvPicPr>
          <p:nvPr/>
        </p:nvPicPr>
        <p:blipFill>
          <a:blip r:embed="rId4"/>
          <a:stretch>
            <a:fillRect/>
          </a:stretch>
        </p:blipFill>
        <p:spPr>
          <a:xfrm>
            <a:off x="720000" y="3528000"/>
            <a:ext cx="2952000" cy="2160000"/>
          </a:xfrm>
          <a:prstGeom prst="rect">
            <a:avLst/>
          </a:prstGeom>
        </p:spPr>
      </p:pic>
      <p:pic>
        <p:nvPicPr>
          <p:cNvPr id="6" name="Picture 5" descr="080c626c972a1fd1.jpg"/>
          <p:cNvPicPr>
            <a:picLocks noChangeAspect="1"/>
          </p:cNvPicPr>
          <p:nvPr/>
        </p:nvPicPr>
        <p:blipFill>
          <a:blip r:embed="rId5"/>
          <a:stretch>
            <a:fillRect/>
          </a:stretch>
        </p:blipFill>
        <p:spPr>
          <a:xfrm>
            <a:off x="3888000" y="3528000"/>
            <a:ext cx="2952000" cy="2160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2528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2528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Testhjem</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Testhjemformidlingen</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Tjue år med testhjem — fra spredte hjem i 2006 til en landsdekkende ordning i dag.</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TEKST — LINDA, TESTHJEMFORMIDLINGEN</a:t>
            </a:r>
          </a:p>
        </p:txBody>
      </p:sp>
      <p:pic>
        <p:nvPicPr>
          <p:cNvPr id="7" name="Picture 6" descr="bcdecf2dfbebf0fe.jpg"/>
          <p:cNvPicPr>
            <a:picLocks noChangeAspect="1"/>
          </p:cNvPicPr>
          <p:nvPr/>
        </p:nvPicPr>
        <p:blipFill>
          <a:blip r:embed="rId2"/>
          <a:stretch>
            <a:fillRect/>
          </a:stretch>
        </p:blipFill>
        <p:spPr>
          <a:xfrm>
            <a:off x="720000" y="3420000"/>
            <a:ext cx="6120000" cy="5400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Testhjemformidlingen</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Sibirkattens Venner fyller 20 år, og i denne forbindelsen ønsker jeg å dele testhjemsformidlingen sin utvikling fra oppstart.</a:t>
            </a:r>
          </a:p>
          <a:p>
            <a:pPr algn="l">
              <a:lnSpc>
                <a:spcPct val="125000"/>
              </a:lnSpc>
              <a:spcAft>
                <a:spcPts val="500"/>
              </a:spcAft>
            </a:pPr>
            <a:r>
              <a:rPr sz="1200" b="0" i="0">
                <a:solidFill>
                  <a:srgbClr val="111111"/>
                </a:solidFill>
                <a:latin typeface="Constantia"/>
              </a:rPr>
              <a:t>I 2006 startet vi med å ha uorganiserte testhjem rundt om i landet, men det var ikke før i januar 2010 at dette arbeidet ble organisert av raseringen. I begynnelsen var det litt tilfeldig og uorganisert. Det var en liste på hjemmesiden vår med navn og telefonnummer til dem som tok imot besøk. Testhjemmet ble kontaktet direkte av personer som hadde hørt om Sibirkatten, og avtalte da et besøk eller at testhjemmet formidlet besøket videre til et annet testhjem i nærheten, noe som førte til at man ikke kunne følge dem opp eller kunne føre noe statistikk på hvor mye dette tilbudet ble brukt.</a:t>
            </a:r>
          </a:p>
          <a:p>
            <a:pPr algn="l">
              <a:lnSpc>
                <a:spcPct val="125000"/>
              </a:lnSpc>
              <a:spcAft>
                <a:spcPts val="500"/>
              </a:spcAft>
            </a:pPr>
            <a:r>
              <a:rPr sz="1200" b="0" i="0">
                <a:solidFill>
                  <a:srgbClr val="111111"/>
                </a:solidFill>
                <a:latin typeface="Constantia"/>
              </a:rPr>
              <a:t>I oktober 2009 ble det vedtatt at vi skulle kanaliserer alle testhjemforespørsler gjennom en felles testhjem-e-post. Det var Lill Kristin Hansen og Ola Erik Gorostuen som ble de første testhjemansvarlige og deres oppgave var å koordinere testhjemordningen på vegne av Sibirkattens Venner.</a:t>
            </a:r>
          </a:p>
          <a:p>
            <a:pPr algn="l">
              <a:lnSpc>
                <a:spcPct val="125000"/>
              </a:lnSpc>
              <a:spcAft>
                <a:spcPts val="500"/>
              </a:spcAft>
            </a:pPr>
            <a:r>
              <a:rPr sz="1200" b="0" i="0">
                <a:solidFill>
                  <a:srgbClr val="111111"/>
                </a:solidFill>
                <a:latin typeface="Constantia"/>
              </a:rPr>
              <a:t>Formålet var at raseringen skulle bli mer synlig for testhjemmene og dermed kunne vi følge dem opp bedre. Vi skulle få en bedre oversikt over hvor mye aktivitet det egentlig var i de forskjellige distriktene, som igjen betydde at vi kunne aktivt jobbe med å få flere testhjem der behovene oppstod. I tillegg ble det i 1 januar 2010 innført et frivillig testhjemskjema/evalueringsskjema som gir SiV en god kunnskapsdatabase på sikt. På denne måten har vi kunne se hvor allergivennlig Sibirkatten er og om det er forskjell på kjønn, fertil/kastrat, voksen/kattunge.</a:t>
            </a:r>
          </a:p>
          <a:p>
            <a:pPr algn="l">
              <a:lnSpc>
                <a:spcPct val="125000"/>
              </a:lnSpc>
              <a:spcAft>
                <a:spcPts val="500"/>
              </a:spcAft>
            </a:pPr>
            <a:r>
              <a:rPr sz="1200" b="0" i="0">
                <a:solidFill>
                  <a:srgbClr val="111111"/>
                </a:solidFill>
                <a:latin typeface="Constantia"/>
              </a:rPr>
              <a:t>Fra testhjemformidlingen startet opp så har vi hatt et mål og det er å hele tiden styrke testhjemtilbudet. Det vil si at vi klarer å holde på dem vi allerede har, og klarer å få inn nye i områder med stor etterspørsel eller hvor det er få testhjem slik at de vi har ikke får så stor belastning. Vi har heldigvis fått hjelp av oppdrettere som oppmuntrer kattungekjøpere til å bli testhjem, og av testhjemmene som snakker varmt om det å være testhjem slik at testerne ønsker å starte opp som testhjem om de er så heldig å kunne få en egen Sibirkatt.</a:t>
            </a:r>
          </a:p>
          <a:p>
            <a:pPr algn="l">
              <a:lnSpc>
                <a:spcPct val="125000"/>
              </a:lnSpc>
              <a:spcAft>
                <a:spcPts val="500"/>
              </a:spcAft>
            </a:pPr>
            <a:r>
              <a:rPr sz="1200" b="0" i="0">
                <a:solidFill>
                  <a:srgbClr val="111111"/>
                </a:solidFill>
                <a:latin typeface="Constantia"/>
              </a:rPr>
              <a:t>I 2011 var testhjemformidlingen godt etablert og Synnøve Settemsdal overtok for Monica Sotberg, mens Ola Erik Gorostuen fortsatte den gode jobben.</a:t>
            </a:r>
          </a:p>
          <a:p>
            <a:pPr algn="l">
              <a:lnSpc>
                <a:spcPct val="125000"/>
              </a:lnSpc>
              <a:spcAft>
                <a:spcPts val="500"/>
              </a:spcAft>
            </a:pPr>
            <a:r>
              <a:rPr sz="1200" b="0" i="0">
                <a:solidFill>
                  <a:srgbClr val="111111"/>
                </a:solidFill>
                <a:latin typeface="Constantia"/>
              </a:rPr>
              <a:t>Det var først nå at det ble godt kjent ute blant folk at Sibirkatten kunne være allergivennlig for noen og etterspørselen økte. Vi så nå endringer i testhjemformidlingen fra det å være en sped begynnelse til å bli et av raseringens viktigste tilbud.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I 2010 hadde vi kun noen få spredte testhjem i Norge, mens i dag har vi rundt 81 stykker som bytter på å være aktive. Noen av disse testhjemmene har vært mer eller mindre aktive siden oppstart.  I 2011 hadde vi ventelister på besøkende, mens nå har vi kun hatt ventelister i nord- og Sør-Norge i små perioder p.g.a. at vi ikke har hatt testhjem der. Pr dags dato har vi kun noen få på venteliste i Bodø hvor vi har slitt med å få testhjem, samt noen som må vente til etter pollensesongen før de kan teste seg. Men takket være alle som stiller opp for oss, og gjør en super jobb så er det ikke ofte vi må sette noen på venteliste.</a:t>
            </a:r>
          </a:p>
          <a:p>
            <a:pPr algn="l">
              <a:lnSpc>
                <a:spcPct val="125000"/>
              </a:lnSpc>
              <a:spcAft>
                <a:spcPts val="500"/>
              </a:spcAft>
            </a:pPr>
            <a:r>
              <a:rPr sz="1200" b="0" i="0">
                <a:solidFill>
                  <a:srgbClr val="111111"/>
                </a:solidFill>
                <a:latin typeface="Constantia"/>
              </a:rPr>
              <a:t>Men vi trenger stadig flere testhjem, så om du kunne tenke deg å stille opp for oss så send en mail til testhjem@gmail.com.  Spesielt trenger vi testhjem i Nord-Norge og Agder-fylkene.</a:t>
            </a:r>
          </a:p>
          <a:p>
            <a:pPr algn="l">
              <a:lnSpc>
                <a:spcPct val="125000"/>
              </a:lnSpc>
              <a:spcAft>
                <a:spcPts val="500"/>
              </a:spcAft>
            </a:pPr>
            <a:r>
              <a:rPr sz="1200" b="0" i="0">
                <a:solidFill>
                  <a:srgbClr val="111111"/>
                </a:solidFill>
                <a:latin typeface="Constantia"/>
              </a:rPr>
              <a:t>Frem til 26.05.2026 har vi hatt 36 forespørsler og dessverre er det mørketall da flere tester seg privat eller tester seg uten å gå via formidlingen. Av naturlig årsak ble det en nedgang i forespørsler fra 2017 da det sommeren 2016 kom en ny rasering, og vi var ikke den eneste raseringen som har denne ordningen lenger. I desember 2023 kom også en tredje rasering med dette tilbudet, så dermed fordeles nå testerne på 3 ulike raseringer. Her ser dere oversikt pr 24.05.26 over antall forespørsler fra vi startet opp å registrere dem i 2010.</a:t>
            </a:r>
          </a:p>
          <a:p>
            <a:pPr algn="l">
              <a:lnSpc>
                <a:spcPct val="125000"/>
              </a:lnSpc>
              <a:spcAft>
                <a:spcPts val="500"/>
              </a:spcAft>
            </a:pPr>
            <a:r>
              <a:rPr sz="1200" b="0" i="0">
                <a:solidFill>
                  <a:srgbClr val="111111"/>
                </a:solidFill>
                <a:latin typeface="Constantia"/>
              </a:rPr>
              <a:t>Vinteren 2011 kom Linda Drewes inn i testhjemformidlingen etter at Ola Erik Gorostuen hadde sittet alene en stund, og siden pågangen stadig økte var det greit å være to.</a:t>
            </a:r>
          </a:p>
          <a:p>
            <a:pPr algn="l">
              <a:lnSpc>
                <a:spcPct val="125000"/>
              </a:lnSpc>
              <a:spcAft>
                <a:spcPts val="500"/>
              </a:spcAft>
            </a:pPr>
            <a:r>
              <a:rPr sz="1200" b="0" i="0">
                <a:solidFill>
                  <a:srgbClr val="111111"/>
                </a:solidFill>
                <a:latin typeface="Constantia"/>
              </a:rPr>
              <a:t>Høsten 2013 sluttet Ola Erik i formidlingen og det var dype fotspor å fylle etter så mange år. Etterspørselen fortsatte å øke, så høsten 2014 sa Elin Heggdal ja til å hjelpe Linda Drewes i testhjemformidlingen. Der var hun frem til hun begynte i styret i 2015. Silje Mari Dale erstattet hennes plass frem til september 2018. Og i desember 2018 overtok Kristin Post stafettpinnen etter Silje Mari, og hun satt frem til oktober 2020. Linda Drewes satt alene etter dette og hadde egentlig planer om å slutte senhøsten 2023, men sånn ble det ikke -og i januar 2024 takket Marianne Finbak Hofstad ja til å bli med i formidlingen. Hun var sammen med Linda til mai 2024. Linda var igjen alene frem til mars 2026 da ble Susanne Pettersen formidler 2, slik at formidlingen har flere ben å stå på. Vi blir veldig sårbare når det kun er en som sitter med ansvaret – selv om antall besøkende har gått ned. Så totalt sett over 16 år har formidlingen vært nokså stabil siden oppstart, da det hele tiden har vært en person som har sittet der i en lang periode.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Vi startet også en egen Facebook side i 2015 for testhjemmene rundt om i landet, slik at vi skulle få bedre kontakt og kjennskap til hverandre samtidig som vi kan ta opp ulike situasjoner, spørre hverandre om tips og råd og dele både positive og negative erfaringer. Og føle mer et samhold selv om vi bor på hver vår kant av landet.</a:t>
            </a:r>
          </a:p>
          <a:p>
            <a:pPr algn="l">
              <a:lnSpc>
                <a:spcPct val="125000"/>
              </a:lnSpc>
              <a:spcAft>
                <a:spcPts val="500"/>
              </a:spcAft>
            </a:pPr>
            <a:r>
              <a:rPr sz="1200" b="0" i="0">
                <a:solidFill>
                  <a:srgbClr val="111111"/>
                </a:solidFill>
                <a:latin typeface="Constantia"/>
              </a:rPr>
              <a:t>1 november 2020 økte testhjemavgiften fra 200 kr til 300kr for å komme til et besøk hos et testhjem, men dette er helt frivillig om testhjemmet tar imot eller ikke, og noen har donert til dyreorganisasjon i stedet. Grunnen til at vi startet med dette var for å få ned avlysninger av avtaler, samt at testhjemmene fikk litt igjen for å bruke sin fritid til dette. Dessverre ser vi at avlysningene har økt igjen, men nå har også samfunnet endret seg med årene, slik at vi har måtte bli mer tydelige i e-posten vi og testhjemmene sender ut. Etter at vipps kom, har også enkelte testhjem startet å ta forhåndsbetalt og dette har fungert veldig bra.</a:t>
            </a:r>
          </a:p>
          <a:p>
            <a:pPr algn="l">
              <a:lnSpc>
                <a:spcPct val="125000"/>
              </a:lnSpc>
              <a:spcAft>
                <a:spcPts val="500"/>
              </a:spcAft>
            </a:pPr>
            <a:r>
              <a:rPr sz="1200" b="0" i="0">
                <a:solidFill>
                  <a:srgbClr val="111111"/>
                </a:solidFill>
                <a:latin typeface="Constantia"/>
              </a:rPr>
              <a:t>Testhjemsformidlingen har økt gradvis med årene, og det har blitt en veldig viktig del av SiV. Det er ofte her den første kontakten med Sibirkatten oppstår og det er her testerne får informasjon om rase, oppdrettere, å eie en katt og ikke minst få testet ut sin allergi.</a:t>
            </a:r>
          </a:p>
          <a:p>
            <a:pPr algn="l">
              <a:lnSpc>
                <a:spcPct val="125000"/>
              </a:lnSpc>
              <a:spcAft>
                <a:spcPts val="500"/>
              </a:spcAft>
            </a:pPr>
            <a:r>
              <a:rPr sz="1200" b="0" i="0">
                <a:solidFill>
                  <a:srgbClr val="111111"/>
                </a:solidFill>
                <a:latin typeface="Constantia"/>
              </a:rPr>
              <a:t>De siste årene har vi dessverre hatt noen useriøse oppdrettere, og mange testere tar kontakt etter endt besøk da de har hørt om at det ikke alltid er like trygt å kjøpe av den de har funnet på egenhånd. Testhjemmene har vært flinke til å informere under besøkene og responsen og ikke minst positive tilbakemeldinger har vokst enormt med årene.</a:t>
            </a:r>
          </a:p>
          <a:p>
            <a:pPr algn="l">
              <a:lnSpc>
                <a:spcPct val="125000"/>
              </a:lnSpc>
              <a:spcAft>
                <a:spcPts val="500"/>
              </a:spcAft>
            </a:pPr>
            <a:r>
              <a:rPr sz="1200" b="0" i="0">
                <a:solidFill>
                  <a:srgbClr val="111111"/>
                </a:solidFill>
                <a:latin typeface="Constantia"/>
              </a:rPr>
              <a:t>Til dere som tar imot testbesøk utenom SiV testhjemsformidling har vi en oppfordring om å ta kontakt slik at vi får registrert dem, og at de får lenke til spørreskjemaet vårt. I februar 2024 gikk vi fra å fylle ut skjema via lenke på WordPress til SurveyPlanet. Dette er et skjema som er helt anonymt og som tar 1-2 minutter å fylle ut. Vi ønsker å samle inn flest mulig testresultater – både positive og negative, for å få erfaringstall på hvordan det har gått på testhjembesøkene. Det er derfor vi ønsker at all formidling skjer via oss slik at vi får en mer nøyaktig database med tanke på hvor mange som bruker dette tilbudet, hvilke områder vi trenger testhjem, og ellers oppfølging og informering til fremtidige sibireiere.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Ved å oppfordre testerne til å svare på skjemaet i etterkant av besøket opplyser vi også om at Sibirkatten ikke er allergivennlig for alle. På denne måten kan man også forebygge kjøp av Sibirkatt som fører til omplassering grunnet allergi i etterkant – noe som er best for både katt, eier og oppdretter.</a:t>
            </a:r>
          </a:p>
          <a:p>
            <a:pPr algn="l">
              <a:lnSpc>
                <a:spcPct val="125000"/>
              </a:lnSpc>
              <a:spcAft>
                <a:spcPts val="500"/>
              </a:spcAft>
            </a:pPr>
            <a:r>
              <a:rPr sz="1200" b="0" i="0">
                <a:solidFill>
                  <a:srgbClr val="111111"/>
                </a:solidFill>
                <a:latin typeface="Constantia"/>
              </a:rPr>
              <a:t>I perioden 02.02.24 - 23.05.26 var det 162 som svarte på Surveyplanet.</a:t>
            </a:r>
          </a:p>
          <a:p>
            <a:pPr algn="l">
              <a:lnSpc>
                <a:spcPct val="125000"/>
              </a:lnSpc>
              <a:spcAft>
                <a:spcPts val="500"/>
              </a:spcAft>
            </a:pPr>
            <a:r>
              <a:rPr sz="1200" b="0" i="0">
                <a:solidFill>
                  <a:srgbClr val="111111"/>
                </a:solidFill>
                <a:latin typeface="Constantia"/>
              </a:rPr>
              <a:t>Ingen reaksjon: 45,1%</a:t>
            </a:r>
          </a:p>
          <a:p>
            <a:pPr algn="l">
              <a:lnSpc>
                <a:spcPct val="125000"/>
              </a:lnSpc>
              <a:spcAft>
                <a:spcPts val="500"/>
              </a:spcAft>
            </a:pPr>
            <a:r>
              <a:rPr sz="1200" b="0" i="0">
                <a:solidFill>
                  <a:srgbClr val="111111"/>
                </a:solidFill>
                <a:latin typeface="Constantia"/>
              </a:rPr>
              <a:t>Reaksjon under/etter besøket/etter 24 timer: 44,9%</a:t>
            </a:r>
          </a:p>
          <a:p>
            <a:pPr algn="l">
              <a:lnSpc>
                <a:spcPct val="125000"/>
              </a:lnSpc>
              <a:spcAft>
                <a:spcPts val="500"/>
              </a:spcAft>
            </a:pPr>
            <a:r>
              <a:rPr sz="1200" b="0" i="0">
                <a:solidFill>
                  <a:srgbClr val="111111"/>
                </a:solidFill>
                <a:latin typeface="Constantia"/>
              </a:rPr>
              <a:t>Blå: Ingen reaksjon Rød: Reaksjon under, etter eller 24t etter besøket.</a:t>
            </a:r>
          </a:p>
          <a:p>
            <a:pPr algn="l">
              <a:lnSpc>
                <a:spcPct val="125000"/>
              </a:lnSpc>
              <a:spcAft>
                <a:spcPts val="500"/>
              </a:spcAft>
            </a:pPr>
            <a:r>
              <a:rPr sz="1200" b="0" i="0">
                <a:solidFill>
                  <a:srgbClr val="111111"/>
                </a:solidFill>
                <a:latin typeface="Constantia"/>
              </a:rPr>
              <a:t>Vi skal jobbe videre med dette for å få en best mulig oversikt, og er derfor avhengig av at flest mulig svar kommer inn.</a:t>
            </a:r>
          </a:p>
          <a:p>
            <a:pPr algn="l">
              <a:lnSpc>
                <a:spcPct val="125000"/>
              </a:lnSpc>
              <a:spcAft>
                <a:spcPts val="500"/>
              </a:spcAft>
            </a:pPr>
            <a:r>
              <a:rPr sz="1200" b="0" i="0">
                <a:solidFill>
                  <a:srgbClr val="111111"/>
                </a:solidFill>
                <a:latin typeface="Constantia"/>
              </a:rPr>
              <a:t>Susanne og Linda ønsker alle en riktig god sommer.</a:t>
            </a:r>
          </a:p>
          <a:p>
            <a:pPr algn="l">
              <a:lnSpc>
                <a:spcPct val="125000"/>
              </a:lnSpc>
              <a:spcAft>
                <a:spcPts val="500"/>
              </a:spcAft>
            </a:pPr>
            <a:r>
              <a:rPr sz="1200" b="0" i="0">
                <a:solidFill>
                  <a:srgbClr val="111111"/>
                </a:solidFill>
                <a:latin typeface="Constantia"/>
              </a:rPr>
              <a:t>Linda – Testhjemformidlingen</a:t>
            </a:r>
          </a:p>
          <a:p>
            <a:pPr algn="l">
              <a:lnSpc>
                <a:spcPct val="125000"/>
              </a:lnSpc>
              <a:spcAft>
                <a:spcPts val="500"/>
              </a:spcAft>
            </a:pPr>
            <a:r>
              <a:rPr sz="1200" b="0" i="0">
                <a:solidFill>
                  <a:srgbClr val="111111"/>
                </a:solidFill>
                <a:latin typeface="Constantia"/>
              </a:rPr>
              <a:t>Kilder: Lagret data fra SiV, Ola Erik Gorostuen og Marit Fodnes Killengren.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648000"/>
            <a:ext cx="6120000" cy="288000"/>
          </a:xfrm>
          <a:prstGeom prst="rect">
            <a:avLst/>
          </a:prstGeom>
          <a:noFill/>
        </p:spPr>
        <p:txBody>
          <a:bodyPr wrap="square" anchor="t">
            <a:spAutoFit/>
          </a:bodyPr>
          <a:lstStyle/>
          <a:p>
            <a:pPr algn="l">
              <a:lnSpc>
                <a:spcPct val="115000"/>
              </a:lnSpc>
              <a:spcAft>
                <a:spcPts val="500"/>
              </a:spcAft>
            </a:pPr>
            <a:r>
              <a:rPr sz="1100" b="1" i="0">
                <a:solidFill>
                  <a:srgbClr val="6E6E6E"/>
                </a:solidFill>
                <a:latin typeface="Arial"/>
              </a:rPr>
              <a:t>BILDER</a:t>
            </a:r>
          </a:p>
        </p:txBody>
      </p:sp>
      <p:pic>
        <p:nvPicPr>
          <p:cNvPr id="3" name="Picture 2" descr="01a19062d81da7a3.jpg"/>
          <p:cNvPicPr>
            <a:picLocks noChangeAspect="1"/>
          </p:cNvPicPr>
          <p:nvPr/>
        </p:nvPicPr>
        <p:blipFill>
          <a:blip r:embed="rId2"/>
          <a:stretch>
            <a:fillRect/>
          </a:stretch>
        </p:blipFill>
        <p:spPr>
          <a:xfrm>
            <a:off x="720000" y="1152000"/>
            <a:ext cx="2952000" cy="2160000"/>
          </a:xfrm>
          <a:prstGeom prst="rect">
            <a:avLst/>
          </a:prstGeom>
        </p:spPr>
      </p:pic>
      <p:pic>
        <p:nvPicPr>
          <p:cNvPr id="4" name="Picture 3" descr="1d9e8badab214960.jpg"/>
          <p:cNvPicPr>
            <a:picLocks noChangeAspect="1"/>
          </p:cNvPicPr>
          <p:nvPr/>
        </p:nvPicPr>
        <p:blipFill>
          <a:blip r:embed="rId3"/>
          <a:stretch>
            <a:fillRect/>
          </a:stretch>
        </p:blipFill>
        <p:spPr>
          <a:xfrm>
            <a:off x="3888000" y="1152000"/>
            <a:ext cx="2952000" cy="2160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2528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2528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Testhjem</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Å være testhjem - Beate</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Et testhjem forteller: hvorfor vi gjør det, og hva det betyr for rasen.</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TEKST — BEATE L.H.</a:t>
            </a:r>
          </a:p>
        </p:txBody>
      </p:sp>
      <p:pic>
        <p:nvPicPr>
          <p:cNvPr id="7" name="Picture 6" descr="0126c34a30acd11b.jpg"/>
          <p:cNvPicPr>
            <a:picLocks noChangeAspect="1"/>
          </p:cNvPicPr>
          <p:nvPr/>
        </p:nvPicPr>
        <p:blipFill>
          <a:blip r:embed="rId2"/>
          <a:stretch>
            <a:fillRect/>
          </a:stretch>
        </p:blipFill>
        <p:spPr>
          <a:xfrm>
            <a:off x="720000" y="3420000"/>
            <a:ext cx="6120000" cy="5400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Å være testhjem - Beate</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Vi er testhjem.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Tenk at denne divaen her er allergivennlig! Lizzie er dronninga i familien vår. Hun har masse pels, røyter masse, og må børstes nesten hver dag. Hun sprer glede og vi er så glade i henne. For 6-7 år siden fant vi informasjon om rasen. Vi tok kontakt med Sibirkattens venner og fikk komme til et testhjem her i nærheten, og tenk - vi reagerte ikke. Vi som ikke trodde at vi kunne ha katt, kunne nå skaffe oss en skjønn liten kattunge. Lizzie kom til oss 14 uker gammel i august 2020. Vi bestemte oss ganske raskt for at vi også ville være testhjem, for dette var helt uvurderlig mulighet for oss. Dette ville vi at andre familier skulle få muligheten til også. Et besøk i testhjem varer ca. en time, og de som kommer på besøk får kose og klappe med Lizzie på hennes premiss. Det variere hvor mange besøk vi får i løpet av et år, men jeg vil anslå en 4-5 stk? Noen kommer alene, og noen ganger en hel familie. Jeg får en epost fra «testhjemsformidlingen» der jeg kan svare enten ja eller nei om det passer med besøk, og så avtaler jeg direkte med den som ønsker å teste seg.  Og hvor mange som vil komme for å teste seg. Jeg informerer de som kommer at selv om Sibirkattene er veldig rolige og familievennlige, så må de opptre litt forsiktig i hvert fall med det samme. Pusen vår er nemlig ikke vant med små barn, slik til vanlig. Besøket koser, får gi en godbit eller to, får litt info om hvordan vi gjør det med vårt kattehold. Forteller at Lizzie var inne til hun var 8 mnd., så tok vi henne ut i sele først, og nå kan hun gå seg en tur i hagen og rundt huset på egenhånd slik hun vil. Men hun vil helst være inne. Hun er ikke glad i regn, og vi bor på Sunnmøre…. Jeg pleier å sende med de besøkende litt pels som de kan ta med hjem. Allerede ved påmelding informerer jeg om at vi setter av inntil 60 min, og at de kan vippes meg 300kr. Det er sjeldent noe problem at de ikke kommer som avtalt. Og det er veldig kjekt å bidra til at andre familier kan sjekke om de tåler Sibirkatt. På de 5-6 årene jeg har vært besøkshjem, er det bare 2 som jeg har sett reagert. Jeg pleier å minne om at det kommer et spørreskjema, der de skal fylle ut direkte til Sibirkattens venner. Og derifra er det Sibirkattens venner som overtar info.«Lønnen» fra besøket går direkte til kattehold, og jeg har ikke opplevd at noen reagerer på at de må betale, og jeg syns at 300 kr er en grei sum. Jeg setter tross av tid til å ta i mot fremmede i huset vårt. Det er bare kjekt å se at flere får øynene opp for denne skjønne allergivennlige rasen. Fineværskatten vår, som er snar å ta stolen min når jeg går inn for å hente kaffe :) Jeg håper du også vil bli testhjem. Hilsen Lizzie og Beate fra Ålesund.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648000"/>
            <a:ext cx="6120000" cy="288000"/>
          </a:xfrm>
          <a:prstGeom prst="rect">
            <a:avLst/>
          </a:prstGeom>
          <a:noFill/>
        </p:spPr>
        <p:txBody>
          <a:bodyPr wrap="square" anchor="t">
            <a:spAutoFit/>
          </a:bodyPr>
          <a:lstStyle/>
          <a:p>
            <a:pPr algn="l">
              <a:lnSpc>
                <a:spcPct val="115000"/>
              </a:lnSpc>
              <a:spcAft>
                <a:spcPts val="500"/>
              </a:spcAft>
            </a:pPr>
            <a:r>
              <a:rPr sz="1100" b="1" i="0">
                <a:solidFill>
                  <a:srgbClr val="6E6E6E"/>
                </a:solidFill>
                <a:latin typeface="Arial"/>
              </a:rPr>
              <a:t>BILDER</a:t>
            </a:r>
          </a:p>
        </p:txBody>
      </p:sp>
      <p:pic>
        <p:nvPicPr>
          <p:cNvPr id="3" name="Picture 2" descr="9f34334c518777b2.jpg"/>
          <p:cNvPicPr>
            <a:picLocks noChangeAspect="1"/>
          </p:cNvPicPr>
          <p:nvPr/>
        </p:nvPicPr>
        <p:blipFill>
          <a:blip r:embed="rId2"/>
          <a:stretch>
            <a:fillRect/>
          </a:stretch>
        </p:blipFill>
        <p:spPr>
          <a:xfrm>
            <a:off x="720000" y="1152000"/>
            <a:ext cx="2952000" cy="2160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2528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2528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Testhjem</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Å være testhjem - Monica</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Et testhjem forteller: om kattene, besøkene og gleden ved å bidra.</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TEKST — MONIKA S.</a:t>
            </a:r>
          </a:p>
        </p:txBody>
      </p:sp>
      <p:pic>
        <p:nvPicPr>
          <p:cNvPr id="7" name="Picture 6" descr="4ef8a2dce588db05.jpg"/>
          <p:cNvPicPr>
            <a:picLocks noChangeAspect="1"/>
          </p:cNvPicPr>
          <p:nvPr/>
        </p:nvPicPr>
        <p:blipFill>
          <a:blip r:embed="rId2"/>
          <a:stretch>
            <a:fillRect/>
          </a:stretch>
        </p:blipFill>
        <p:spPr>
          <a:xfrm>
            <a:off x="720000" y="3420000"/>
            <a:ext cx="6120000" cy="5400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Å være testhjem - Monica</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Jeg har vært testhjem i ca. 10 år. Jeg synes det er viktig å være testhjem slik at de som er allergiske mot katt får sjansen til å teste seg før de anskaffer katt. Som testhjem treffer man mange trivelige folk. Spesielt er det trivelig når man treffer de igjen senere og man hører at de har anskaffet seg sibirkatt og det går kjempebra! Jeg har katter som er sosiale av seg og de synes det er trivelig med besøk som vil kose med de!</a:t>
            </a:r>
          </a:p>
          <a:p>
            <a:pPr algn="l">
              <a:lnSpc>
                <a:spcPct val="125000"/>
              </a:lnSpc>
              <a:spcAft>
                <a:spcPts val="500"/>
              </a:spcAft>
            </a:pPr>
            <a:r>
              <a:rPr sz="1200" b="0" i="0">
                <a:solidFill>
                  <a:srgbClr val="111111"/>
                </a:solidFill>
                <a:latin typeface="Constantia"/>
              </a:rPr>
              <a:t>SC ( N ) Siberikos Sonny,  Linus til hverdags. 11,5 år gammel. Elsker testbesøk!</a:t>
            </a:r>
          </a:p>
          <a:p>
            <a:pPr algn="l">
              <a:lnSpc>
                <a:spcPct val="125000"/>
              </a:lnSpc>
              <a:spcAft>
                <a:spcPts val="500"/>
              </a:spcAft>
            </a:pPr>
            <a:r>
              <a:rPr sz="1200" b="0" i="0">
                <a:solidFill>
                  <a:srgbClr val="111111"/>
                </a:solidFill>
                <a:latin typeface="Constantia"/>
              </a:rPr>
              <a:t>CH ( N ) Siberikos Oline 3 år</a:t>
            </a:r>
          </a:p>
          <a:p>
            <a:pPr algn="l">
              <a:lnSpc>
                <a:spcPct val="125000"/>
              </a:lnSpc>
              <a:spcAft>
                <a:spcPts val="500"/>
              </a:spcAft>
            </a:pPr>
            <a:r>
              <a:rPr sz="1200" b="0" i="0">
                <a:solidFill>
                  <a:srgbClr val="111111"/>
                </a:solidFill>
                <a:latin typeface="Constantia"/>
              </a:rPr>
              <a:t>CH (N) CarilloCat Bestemann, Sofus til hverdags.  6,5 år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648000"/>
            <a:ext cx="6120000" cy="288000"/>
          </a:xfrm>
          <a:prstGeom prst="rect">
            <a:avLst/>
          </a:prstGeom>
          <a:noFill/>
        </p:spPr>
        <p:txBody>
          <a:bodyPr wrap="square" anchor="t">
            <a:spAutoFit/>
          </a:bodyPr>
          <a:lstStyle/>
          <a:p>
            <a:pPr algn="l">
              <a:lnSpc>
                <a:spcPct val="115000"/>
              </a:lnSpc>
              <a:spcAft>
                <a:spcPts val="500"/>
              </a:spcAft>
            </a:pPr>
            <a:r>
              <a:rPr sz="1100" b="1" i="0">
                <a:solidFill>
                  <a:srgbClr val="6E6E6E"/>
                </a:solidFill>
                <a:latin typeface="Arial"/>
              </a:rPr>
              <a:t>BILDER</a:t>
            </a:r>
          </a:p>
        </p:txBody>
      </p:sp>
      <p:pic>
        <p:nvPicPr>
          <p:cNvPr id="3" name="Picture 2" descr="bfc326e0592ba5db.jpg"/>
          <p:cNvPicPr>
            <a:picLocks noChangeAspect="1"/>
          </p:cNvPicPr>
          <p:nvPr/>
        </p:nvPicPr>
        <p:blipFill>
          <a:blip r:embed="rId2"/>
          <a:stretch>
            <a:fillRect/>
          </a:stretch>
        </p:blipFill>
        <p:spPr>
          <a:xfrm>
            <a:off x="720000" y="1152000"/>
            <a:ext cx="2952000" cy="2160000"/>
          </a:xfrm>
          <a:prstGeom prst="rect">
            <a:avLst/>
          </a:prstGeom>
        </p:spPr>
      </p:pic>
      <p:pic>
        <p:nvPicPr>
          <p:cNvPr id="4" name="Picture 3" descr="8913a1c3adffea91.jpg"/>
          <p:cNvPicPr>
            <a:picLocks noChangeAspect="1"/>
          </p:cNvPicPr>
          <p:nvPr/>
        </p:nvPicPr>
        <p:blipFill>
          <a:blip r:embed="rId3"/>
          <a:stretch>
            <a:fillRect/>
          </a:stretch>
        </p:blipFill>
        <p:spPr>
          <a:xfrm>
            <a:off x="3888000" y="1152000"/>
            <a:ext cx="2952000" cy="2160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20000" y="720000"/>
            <a:ext cx="1908000" cy="432000"/>
          </a:xfrm>
          <a:prstGeom prst="rect">
            <a:avLst/>
          </a:prstGeom>
          <a:solidFill>
            <a:srgbClr val="2A2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8000" y="720000"/>
            <a:ext cx="1908000" cy="432000"/>
          </a:xfrm>
          <a:prstGeom prst="rect">
            <a:avLst/>
          </a:prstGeom>
          <a:noFill/>
        </p:spPr>
        <p:txBody>
          <a:bodyPr wrap="square" anchor="ctr">
            <a:spAutoFit/>
          </a:bodyPr>
          <a:lstStyle/>
          <a:p>
            <a:pPr algn="l">
              <a:lnSpc>
                <a:spcPct val="115000"/>
              </a:lnSpc>
              <a:spcAft>
                <a:spcPts val="500"/>
              </a:spcAft>
            </a:pPr>
            <a:r>
              <a:rPr sz="1200" b="1" i="0">
                <a:solidFill>
                  <a:srgbClr val="FFFFFF"/>
                </a:solidFill>
                <a:latin typeface="Constantia"/>
              </a:rPr>
              <a:t>Medlemsfordeler</a:t>
            </a:r>
          </a:p>
        </p:txBody>
      </p:sp>
      <p:sp>
        <p:nvSpPr>
          <p:cNvPr id="4" name="TextBox 3"/>
          <p:cNvSpPr txBox="1"/>
          <p:nvPr/>
        </p:nvSpPr>
        <p:spPr>
          <a:xfrm>
            <a:off x="720000" y="1440000"/>
            <a:ext cx="6120000" cy="864000"/>
          </a:xfrm>
          <a:prstGeom prst="rect">
            <a:avLst/>
          </a:prstGeom>
          <a:noFill/>
        </p:spPr>
        <p:txBody>
          <a:bodyPr wrap="square" anchor="t">
            <a:spAutoFit/>
          </a:bodyPr>
          <a:lstStyle/>
          <a:p>
            <a:pPr algn="l">
              <a:lnSpc>
                <a:spcPct val="105000"/>
              </a:lnSpc>
              <a:spcAft>
                <a:spcPts val="500"/>
              </a:spcAft>
            </a:pPr>
            <a:r>
              <a:rPr sz="3000" b="1" i="0">
                <a:solidFill>
                  <a:srgbClr val="111111"/>
                </a:solidFill>
                <a:latin typeface="Constantia"/>
              </a:rPr>
              <a:t>Rabatter og samarbeidspartnere</a:t>
            </a:r>
          </a:p>
        </p:txBody>
      </p:sp>
      <p:sp>
        <p:nvSpPr>
          <p:cNvPr id="5" name="TextBox 4"/>
          <p:cNvSpPr txBox="1"/>
          <p:nvPr/>
        </p:nvSpPr>
        <p:spPr>
          <a:xfrm>
            <a:off x="720000" y="2376000"/>
            <a:ext cx="6120000" cy="576000"/>
          </a:xfrm>
          <a:prstGeom prst="rect">
            <a:avLst/>
          </a:prstGeom>
          <a:noFill/>
        </p:spPr>
        <p:txBody>
          <a:bodyPr wrap="square" anchor="t">
            <a:spAutoFit/>
          </a:bodyPr>
          <a:lstStyle/>
          <a:p>
            <a:pPr algn="l">
              <a:lnSpc>
                <a:spcPct val="115000"/>
              </a:lnSpc>
              <a:spcAft>
                <a:spcPts val="500"/>
              </a:spcAft>
            </a:pPr>
            <a:r>
              <a:rPr sz="1400" b="0" i="1">
                <a:solidFill>
                  <a:srgbClr val="111111"/>
                </a:solidFill>
                <a:latin typeface="Constantia"/>
              </a:rPr>
              <a:t>Medlemsfordeler hos våre samarbeidspartnere. Bruk rabattkodene ved kjøp i nettbutikkene.</a:t>
            </a:r>
          </a:p>
        </p:txBody>
      </p:sp>
      <p:sp>
        <p:nvSpPr>
          <p:cNvPr id="6" name="TextBox 5"/>
          <p:cNvSpPr txBox="1"/>
          <p:nvPr/>
        </p:nvSpPr>
        <p:spPr>
          <a:xfrm>
            <a:off x="720000" y="2952000"/>
            <a:ext cx="6120000" cy="216000"/>
          </a:xfrm>
          <a:prstGeom prst="rect">
            <a:avLst/>
          </a:prstGeom>
          <a:noFill/>
        </p:spPr>
        <p:txBody>
          <a:bodyPr wrap="square" anchor="t">
            <a:spAutoFit/>
          </a:bodyPr>
          <a:lstStyle/>
          <a:p>
            <a:pPr algn="l">
              <a:lnSpc>
                <a:spcPct val="115000"/>
              </a:lnSpc>
              <a:spcAft>
                <a:spcPts val="500"/>
              </a:spcAft>
            </a:pPr>
            <a:r>
              <a:rPr sz="900" b="0" i="0">
                <a:solidFill>
                  <a:srgbClr val="6E6E6E"/>
                </a:solidFill>
                <a:latin typeface="Arial"/>
              </a:rPr>
              <a:t>SIBIRKATTENS VENNER</a:t>
            </a:r>
          </a:p>
        </p:txBody>
      </p:sp>
      <p:sp>
        <p:nvSpPr>
          <p:cNvPr id="7" name="Rectangle 6"/>
          <p:cNvSpPr/>
          <p:nvPr/>
        </p:nvSpPr>
        <p:spPr>
          <a:xfrm>
            <a:off x="720000" y="3420000"/>
            <a:ext cx="6120000" cy="5400000"/>
          </a:xfrm>
          <a:prstGeom prst="rect">
            <a:avLst/>
          </a:prstGeom>
          <a:solidFill>
            <a:srgbClr val="F4F2EF"/>
          </a:solidFill>
          <a:ln w="63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5904000"/>
            <a:ext cx="6120000" cy="432000"/>
          </a:xfrm>
          <a:prstGeom prst="rect">
            <a:avLst/>
          </a:prstGeom>
          <a:noFill/>
        </p:spPr>
        <p:txBody>
          <a:bodyPr wrap="square" anchor="ctr">
            <a:spAutoFit/>
          </a:bodyPr>
          <a:lstStyle/>
          <a:p>
            <a:pPr algn="ctr">
              <a:lnSpc>
                <a:spcPct val="115000"/>
              </a:lnSpc>
              <a:spcAft>
                <a:spcPts val="500"/>
              </a:spcAft>
            </a:pPr>
            <a:r>
              <a:rPr sz="1000" b="0" i="0">
                <a:solidFill>
                  <a:srgbClr val="6E6E6E"/>
                </a:solidFill>
                <a:latin typeface="Arial"/>
              </a:rPr>
              <a:t>FOTO · 3:2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0000" y="720000"/>
            <a:ext cx="6120000" cy="288000"/>
          </a:xfrm>
          <a:prstGeom prst="rect">
            <a:avLst/>
          </a:prstGeom>
          <a:noFill/>
        </p:spPr>
        <p:txBody>
          <a:bodyPr wrap="square" anchor="t">
            <a:spAutoFit/>
          </a:bodyPr>
          <a:lstStyle/>
          <a:p>
            <a:pPr algn="l">
              <a:lnSpc>
                <a:spcPct val="115000"/>
              </a:lnSpc>
              <a:spcAft>
                <a:spcPts val="500"/>
              </a:spcAft>
            </a:pPr>
            <a:r>
              <a:rPr sz="1300" b="0" i="1">
                <a:solidFill>
                  <a:srgbClr val="6E6E6E"/>
                </a:solidFill>
                <a:latin typeface="Constantia"/>
              </a:rPr>
              <a:t>Rabatter og samarbeidspartnere</a:t>
            </a:r>
          </a:p>
        </p:txBody>
      </p:sp>
      <p:sp>
        <p:nvSpPr>
          <p:cNvPr id="3" name="TextBox 2"/>
          <p:cNvSpPr txBox="1"/>
          <p:nvPr/>
        </p:nvSpPr>
        <p:spPr>
          <a:xfrm>
            <a:off x="720000" y="1080000"/>
            <a:ext cx="6120000" cy="9000000"/>
          </a:xfrm>
          <a:prstGeom prst="rect">
            <a:avLst/>
          </a:prstGeom>
          <a:noFill/>
        </p:spPr>
        <p:txBody>
          <a:bodyPr wrap="square" anchor="t">
            <a:spAutoFit/>
          </a:bodyPr>
          <a:lstStyle/>
          <a:p>
            <a:pPr algn="l">
              <a:lnSpc>
                <a:spcPct val="125000"/>
              </a:lnSpc>
              <a:spcAft>
                <a:spcPts val="500"/>
              </a:spcAft>
            </a:pPr>
            <a:r>
              <a:rPr sz="1200" b="0" i="0">
                <a:solidFill>
                  <a:srgbClr val="111111"/>
                </a:solidFill>
                <a:latin typeface="Constantia"/>
              </a:rPr>
              <a:t>Alle medlemmer i SibirkattensVenner kan bruke nedenstående rabattkoder ved kjøp i de ulike butikkene.</a:t>
            </a:r>
          </a:p>
          <a:p>
            <a:pPr algn="l">
              <a:lnSpc>
                <a:spcPct val="125000"/>
              </a:lnSpc>
              <a:spcAft>
                <a:spcPts val="500"/>
              </a:spcAft>
            </a:pPr>
            <a:r>
              <a:rPr sz="1200" b="0" i="0">
                <a:solidFill>
                  <a:srgbClr val="111111"/>
                </a:solidFill>
                <a:latin typeface="Constantia"/>
              </a:rPr>
              <a:t>Tiny Paws – Rabattkode: SIV10</a:t>
            </a:r>
          </a:p>
          <a:p>
            <a:pPr algn="l">
              <a:lnSpc>
                <a:spcPct val="125000"/>
              </a:lnSpc>
              <a:spcAft>
                <a:spcPts val="500"/>
              </a:spcAft>
            </a:pPr>
            <a:r>
              <a:rPr sz="1200" b="0" i="0">
                <a:solidFill>
                  <a:srgbClr val="111111"/>
                </a:solidFill>
                <a:latin typeface="Constantia"/>
              </a:rPr>
              <a:t>Rabattkoden gir deg 10% på hele nettbutikken, inkludert salgsvarer. Gratis levering på bestillinger over 1000 kr</a:t>
            </a:r>
          </a:p>
          <a:p>
            <a:pPr algn="l">
              <a:lnSpc>
                <a:spcPct val="125000"/>
              </a:lnSpc>
              <a:spcAft>
                <a:spcPts val="500"/>
              </a:spcAft>
            </a:pPr>
            <a:r>
              <a:rPr sz="1200" b="0" i="0">
                <a:solidFill>
                  <a:srgbClr val="111111"/>
                </a:solidFill>
                <a:latin typeface="Constantia"/>
              </a:rPr>
              <a:t>Hundens butikk – Rabattkode: siv</a:t>
            </a:r>
          </a:p>
          <a:p>
            <a:pPr algn="l">
              <a:lnSpc>
                <a:spcPct val="125000"/>
              </a:lnSpc>
              <a:spcAft>
                <a:spcPts val="500"/>
              </a:spcAft>
            </a:pPr>
            <a:r>
              <a:rPr sz="1200" b="0" i="0">
                <a:solidFill>
                  <a:srgbClr val="111111"/>
                </a:solidFill>
                <a:latin typeface="Constantia"/>
              </a:rPr>
              <a:t>Rabattkoden gir deg 10% på en rekke varer.</a:t>
            </a:r>
          </a:p>
          <a:p>
            <a:pPr algn="l">
              <a:lnSpc>
                <a:spcPct val="125000"/>
              </a:lnSpc>
              <a:spcAft>
                <a:spcPts val="500"/>
              </a:spcAft>
            </a:pPr>
            <a:r>
              <a:rPr sz="1200" b="0" i="0">
                <a:solidFill>
                  <a:srgbClr val="111111"/>
                </a:solidFill>
                <a:latin typeface="Constantia"/>
              </a:rPr>
              <a:t>Vinylhobby – Rabattkode: Sibirkatten24</a:t>
            </a:r>
          </a:p>
          <a:p>
            <a:pPr algn="l">
              <a:lnSpc>
                <a:spcPct val="125000"/>
              </a:lnSpc>
              <a:spcAft>
                <a:spcPts val="500"/>
              </a:spcAft>
            </a:pPr>
            <a:r>
              <a:rPr sz="1200" b="0" i="0">
                <a:solidFill>
                  <a:srgbClr val="111111"/>
                </a:solidFill>
                <a:latin typeface="Constantia"/>
              </a:rPr>
              <a:t>Rabattkoden gir 10% på en rekke varer. Gjelder ikke tilbudsvarer.</a:t>
            </a:r>
          </a:p>
          <a:p>
            <a:pPr algn="l">
              <a:lnSpc>
                <a:spcPct val="125000"/>
              </a:lnSpc>
              <a:spcAft>
                <a:spcPts val="500"/>
              </a:spcAft>
            </a:pPr>
            <a:r>
              <a:rPr sz="1200" b="0" i="0">
                <a:solidFill>
                  <a:srgbClr val="111111"/>
                </a:solidFill>
                <a:latin typeface="Constantia"/>
              </a:rPr>
              <a:t>Wisdom panel - Rabattkode: Siberian20. Koden er gyldig ut 2025, og gir 20% på test kit.</a:t>
            </a:r>
          </a:p>
          <a:p>
            <a:pPr algn="l">
              <a:lnSpc>
                <a:spcPct val="125000"/>
              </a:lnSpc>
              <a:spcAft>
                <a:spcPts val="500"/>
              </a:spcAft>
            </a:pPr>
            <a:r>
              <a:rPr sz="1200" b="0" i="0">
                <a:solidFill>
                  <a:srgbClr val="111111"/>
                </a:solidFill>
                <a:latin typeface="Constantia"/>
              </a:rPr>
              <a:t>Pelsparadiset  - Rabattkode: SIBIRKATTENSVENNER.</a:t>
            </a:r>
          </a:p>
          <a:p>
            <a:pPr algn="l">
              <a:lnSpc>
                <a:spcPct val="125000"/>
              </a:lnSpc>
              <a:spcAft>
                <a:spcPts val="500"/>
              </a:spcAft>
            </a:pPr>
            <a:r>
              <a:rPr sz="1200" b="0" i="0">
                <a:solidFill>
                  <a:srgbClr val="111111"/>
                </a:solidFill>
                <a:latin typeface="Constantia"/>
              </a:rPr>
              <a:t>I tillegg 35% rabatt på e-boka, ved bruk av rabattkode LB7NUFSXBP7AG Eller ved bestilling via denne linken: https://play.google.com/redeem?code=LB7NUFSXBP7AG (Koden utløper 1.1.2027)</a:t>
            </a:r>
          </a:p>
          <a:p>
            <a:pPr algn="l">
              <a:lnSpc>
                <a:spcPct val="125000"/>
              </a:lnSpc>
              <a:spcAft>
                <a:spcPts val="500"/>
              </a:spcAft>
            </a:pPr>
            <a:r>
              <a:rPr sz="1200" b="0" i="0">
                <a:solidFill>
                  <a:srgbClr val="111111"/>
                </a:solidFill>
                <a:latin typeface="Constantia"/>
              </a:rPr>
              <a:t>Godbit1 - Gir 20% på alle ordinære priser (gjelder ikke medlemspriser eller tilbud, kan heller ikke kombineres med andre rabatter) Rabattkode: sibirkatt</a:t>
            </a:r>
          </a:p>
          <a:p>
            <a:pPr algn="l">
              <a:lnSpc>
                <a:spcPct val="125000"/>
              </a:lnSpc>
              <a:spcAft>
                <a:spcPts val="500"/>
              </a:spcAft>
            </a:pPr>
            <a:r>
              <a:rPr sz="1200" b="0" i="0">
                <a:solidFill>
                  <a:srgbClr val="111111"/>
                </a:solidFill>
                <a:latin typeface="Constantia"/>
              </a:rPr>
              <a:t>Husse avtale SIV10 % fast rabatt på hele sortimentetGratis levering på bestillinger over 600 kr</a:t>
            </a:r>
          </a:p>
          <a:p>
            <a:pPr algn="l">
              <a:lnSpc>
                <a:spcPct val="125000"/>
              </a:lnSpc>
              <a:spcAft>
                <a:spcPts val="500"/>
              </a:spcAft>
            </a:pPr>
            <a:r>
              <a:rPr sz="1200" b="0" i="0">
                <a:solidFill>
                  <a:srgbClr val="111111"/>
                </a:solidFill>
                <a:latin typeface="Constantia"/>
              </a:rPr>
              <a:t>Rabattene gjelder ved:• Hjemlevering i Oslo, Bærum, Asker, Lørenskog og Lillestrøm.• Postforsendelse til resten av landet (gratis frakt over 600 kr, opptil 10 kg per sending. Over 10kg kommer det tillegg i frakt).</a:t>
            </a:r>
          </a:p>
          <a:p>
            <a:pPr algn="l">
              <a:lnSpc>
                <a:spcPct val="125000"/>
              </a:lnSpc>
              <a:spcAft>
                <a:spcPts val="500"/>
              </a:spcAft>
            </a:pPr>
            <a:r>
              <a:rPr sz="1200" b="0" i="0">
                <a:solidFill>
                  <a:srgbClr val="111111"/>
                </a:solidFill>
                <a:latin typeface="Constantia"/>
              </a:rPr>
              <a:t>Link til skjema for førstegangs registrering, så får man en rabattkode man bruker ved nettbestilling.: https://forms.gle/jJFBiC1kJ1F2UHRB9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